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sldIdLst>
    <p:sldId id="265" r:id="rId2"/>
    <p:sldId id="271" r:id="rId3"/>
    <p:sldId id="2147480750" r:id="rId4"/>
    <p:sldId id="2147480751" r:id="rId5"/>
    <p:sldId id="275" r:id="rId6"/>
    <p:sldId id="2147480753" r:id="rId7"/>
    <p:sldId id="2147480743" r:id="rId8"/>
    <p:sldId id="277" r:id="rId9"/>
    <p:sldId id="2147480741" r:id="rId10"/>
    <p:sldId id="21474807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D9F0F0"/>
    <a:srgbClr val="009AC1"/>
    <a:srgbClr val="57C797"/>
    <a:srgbClr val="F0FBFC"/>
    <a:srgbClr val="47D45A"/>
    <a:srgbClr val="156082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08AA2-FA4A-BE83-3E7D-163991BBEFBC}" v="1166" dt="2026-08-12T19:41:00.915"/>
    <p1510:client id="{9A2FAAF2-EFEE-449A-B664-297790DB6600}" v="4220" dt="2026-08-12T21:42:47.641"/>
    <p1510:client id="{9B98D32D-81E1-4FE2-A2D4-0FD6103001BC}" v="9870" dt="2026-08-12T21:40:50.868"/>
    <p1510:client id="{D68A7512-EC83-D6C6-683B-5DEFB850A050}" v="280" dt="2026-08-12T21:25:36.737"/>
    <p1510:client id="{E43042E3-FCF8-1A87-F196-4BB95B61D2FB}" v="634" dt="2026-08-12T21:20:13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F756A-F53F-4FBC-B6D5-D51338D2C25A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C154-55C8-49E4-8B0A-51AE5A1C6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939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61DC-121A-7F54-A034-BFE6D8E3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C1959-7796-0DDB-DA51-1F8AC0E39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6A041-C0F1-7E5E-6DF0-892369F7A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4C986-47C5-A185-EFC7-FEDC0A421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54126C-41AE-4588-8112-508A675AA7F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95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208B-4EE1-0307-CF45-A9ACD01E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9DB10-09CD-18A3-D7B0-7FCC14E6D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30492-31A4-3D64-E0C6-0606D5542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4F22B-731E-DAAF-8BE7-B3B7D8E4C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C154-55C8-49E4-8B0A-51AE5A1C6AE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03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1D9A8-515F-DC48-A7FD-8F62DE59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E352A-F77B-D447-A383-D2953039C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32A02-4A57-CF99-EC67-45251040E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0C565-F4EF-8920-D860-1B31A4083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C154-55C8-49E4-8B0A-51AE5A1C6AE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6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978468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2FC0262-0563-2901-53C3-B38059D4593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rIns="0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3BF0FFA-704B-59EA-1A80-B8CB63070D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F30698-216A-32AA-DAD9-9A06C65C75B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1B90C72-867C-DFE3-E828-C2557255DD1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511F205-3EA2-74F3-8A1E-D15A8B569CA3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1F29A0-806D-1376-16BA-7BAC68AB2A5E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2831CC-8610-2CB4-5A7F-DF4B9C7AEDDE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DCFE28-1905-650A-625C-A19A4CE6E32F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59243DF-B1BD-5775-D84E-25E871BFE2C3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E4523C-4A94-CA28-D16F-BE348D122C2A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EEBAB0-25FE-18F9-5341-F7E4CCEEF4B2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C17FB4C-FF70-42AA-C4A8-96237B30706E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DAD630-A3FF-3603-80F4-E8F0B409D35B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0B72AE-CD0F-686E-8575-F89FF38BD87F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F863207-2526-54D0-61C5-93BD8CB2804B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D72AAB-9F61-C5DD-80A8-7ABB36488513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3E8DD4-F153-2132-337C-32DC8A15EEBF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CB8A7EC-57DE-6448-D971-C3DCCF00449C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5C3CE6A-E34E-8110-7A93-5F505E49B504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1724790-94AB-D1C0-7597-EE68697DDD09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17FE0E-B84A-7181-D5B4-C0E29F83B6EF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03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raphic 7">
            <a:extLst>
              <a:ext uri="{FF2B5EF4-FFF2-40B4-BE49-F238E27FC236}">
                <a16:creationId xmlns:a16="http://schemas.microsoft.com/office/drawing/2014/main" id="{6ADD2E3F-2508-5A49-6003-1F643541960B}"/>
              </a:ext>
            </a:extLst>
          </p:cNvPr>
          <p:cNvSpPr/>
          <p:nvPr userDrawn="1"/>
        </p:nvSpPr>
        <p:spPr>
          <a:xfrm>
            <a:off x="4786668" y="-10455"/>
            <a:ext cx="6794601" cy="6888192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Graphic 7">
            <a:extLst>
              <a:ext uri="{FF2B5EF4-FFF2-40B4-BE49-F238E27FC236}">
                <a16:creationId xmlns:a16="http://schemas.microsoft.com/office/drawing/2014/main" id="{A45D57EE-ADD2-0658-6837-C0327958060C}"/>
              </a:ext>
            </a:extLst>
          </p:cNvPr>
          <p:cNvSpPr/>
          <p:nvPr userDrawn="1"/>
        </p:nvSpPr>
        <p:spPr>
          <a:xfrm>
            <a:off x="5396194" y="2295"/>
            <a:ext cx="6794601" cy="6875443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Graphic 7">
            <a:extLst>
              <a:ext uri="{FF2B5EF4-FFF2-40B4-BE49-F238E27FC236}">
                <a16:creationId xmlns:a16="http://schemas.microsoft.com/office/drawing/2014/main" id="{B41EB870-7E27-7226-F82E-06FE73EB2650}"/>
              </a:ext>
            </a:extLst>
          </p:cNvPr>
          <p:cNvSpPr/>
          <p:nvPr userDrawn="1"/>
        </p:nvSpPr>
        <p:spPr>
          <a:xfrm>
            <a:off x="6026653" y="-586"/>
            <a:ext cx="6794601" cy="6855705"/>
          </a:xfrm>
          <a:custGeom>
            <a:avLst/>
            <a:gdLst>
              <a:gd name="connsiteX0" fmla="*/ 0 w 2297456"/>
              <a:gd name="connsiteY0" fmla="*/ 3200783 h 3200783"/>
              <a:gd name="connsiteX1" fmla="*/ 996855 w 2297456"/>
              <a:gd name="connsiteY1" fmla="*/ 3200783 h 3200783"/>
              <a:gd name="connsiteX2" fmla="*/ 2297457 w 2297456"/>
              <a:gd name="connsiteY2" fmla="*/ 886908 h 3200783"/>
              <a:gd name="connsiteX3" fmla="*/ 1799030 w 2297456"/>
              <a:gd name="connsiteY3" fmla="*/ 0 h 3200783"/>
              <a:gd name="connsiteX4" fmla="*/ 0 w 2297456"/>
              <a:gd name="connsiteY4" fmla="*/ 3200783 h 3200783"/>
              <a:gd name="connsiteX0" fmla="*/ 0 w 1986254"/>
              <a:gd name="connsiteY0" fmla="*/ 3200783 h 3200783"/>
              <a:gd name="connsiteX1" fmla="*/ 996855 w 1986254"/>
              <a:gd name="connsiteY1" fmla="*/ 3200783 h 3200783"/>
              <a:gd name="connsiteX2" fmla="*/ 1986254 w 1986254"/>
              <a:gd name="connsiteY2" fmla="*/ 266510 h 3200783"/>
              <a:gd name="connsiteX3" fmla="*/ 1799030 w 1986254"/>
              <a:gd name="connsiteY3" fmla="*/ 0 h 3200783"/>
              <a:gd name="connsiteX4" fmla="*/ 0 w 1986254"/>
              <a:gd name="connsiteY4" fmla="*/ 3200783 h 3200783"/>
              <a:gd name="connsiteX0" fmla="*/ 0 w 1604323"/>
              <a:gd name="connsiteY0" fmla="*/ 1513457 h 3200783"/>
              <a:gd name="connsiteX1" fmla="*/ 614924 w 1604323"/>
              <a:gd name="connsiteY1" fmla="*/ 3200783 h 3200783"/>
              <a:gd name="connsiteX2" fmla="*/ 1604323 w 1604323"/>
              <a:gd name="connsiteY2" fmla="*/ 266510 h 3200783"/>
              <a:gd name="connsiteX3" fmla="*/ 1417099 w 1604323"/>
              <a:gd name="connsiteY3" fmla="*/ 0 h 3200783"/>
              <a:gd name="connsiteX4" fmla="*/ 0 w 1604323"/>
              <a:gd name="connsiteY4" fmla="*/ 1513457 h 3200783"/>
              <a:gd name="connsiteX0" fmla="*/ 0 w 1604323"/>
              <a:gd name="connsiteY0" fmla="*/ 1513457 h 1604343"/>
              <a:gd name="connsiteX1" fmla="*/ 737519 w 1604323"/>
              <a:gd name="connsiteY1" fmla="*/ 1604343 h 1604343"/>
              <a:gd name="connsiteX2" fmla="*/ 1604323 w 1604323"/>
              <a:gd name="connsiteY2" fmla="*/ 266510 h 1604343"/>
              <a:gd name="connsiteX3" fmla="*/ 1417099 w 1604323"/>
              <a:gd name="connsiteY3" fmla="*/ 0 h 1604343"/>
              <a:gd name="connsiteX4" fmla="*/ 0 w 1604323"/>
              <a:gd name="connsiteY4" fmla="*/ 1513457 h 1604343"/>
              <a:gd name="connsiteX0" fmla="*/ 0 w 906474"/>
              <a:gd name="connsiteY0" fmla="*/ 1059024 h 1604343"/>
              <a:gd name="connsiteX1" fmla="*/ 39670 w 906474"/>
              <a:gd name="connsiteY1" fmla="*/ 1604343 h 1604343"/>
              <a:gd name="connsiteX2" fmla="*/ 906474 w 906474"/>
              <a:gd name="connsiteY2" fmla="*/ 266510 h 1604343"/>
              <a:gd name="connsiteX3" fmla="*/ 719250 w 906474"/>
              <a:gd name="connsiteY3" fmla="*/ 0 h 1604343"/>
              <a:gd name="connsiteX4" fmla="*/ 0 w 906474"/>
              <a:gd name="connsiteY4" fmla="*/ 1059024 h 1604343"/>
              <a:gd name="connsiteX0" fmla="*/ 0 w 906474"/>
              <a:gd name="connsiteY0" fmla="*/ 1059024 h 1059024"/>
              <a:gd name="connsiteX1" fmla="*/ 393310 w 906474"/>
              <a:gd name="connsiteY1" fmla="*/ 1059024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906474"/>
              <a:gd name="connsiteY0" fmla="*/ 1059024 h 1059024"/>
              <a:gd name="connsiteX1" fmla="*/ 417999 w 906474"/>
              <a:gd name="connsiteY1" fmla="*/ 1012471 h 1059024"/>
              <a:gd name="connsiteX2" fmla="*/ 906474 w 906474"/>
              <a:gd name="connsiteY2" fmla="*/ 266510 h 1059024"/>
              <a:gd name="connsiteX3" fmla="*/ 719250 w 906474"/>
              <a:gd name="connsiteY3" fmla="*/ 0 h 1059024"/>
              <a:gd name="connsiteX4" fmla="*/ 0 w 906474"/>
              <a:gd name="connsiteY4" fmla="*/ 1059024 h 1059024"/>
              <a:gd name="connsiteX0" fmla="*/ 0 w 872528"/>
              <a:gd name="connsiteY0" fmla="*/ 1015058 h 1015058"/>
              <a:gd name="connsiteX1" fmla="*/ 384053 w 872528"/>
              <a:gd name="connsiteY1" fmla="*/ 1012471 h 1015058"/>
              <a:gd name="connsiteX2" fmla="*/ 872528 w 872528"/>
              <a:gd name="connsiteY2" fmla="*/ 266510 h 1015058"/>
              <a:gd name="connsiteX3" fmla="*/ 685304 w 872528"/>
              <a:gd name="connsiteY3" fmla="*/ 0 h 1015058"/>
              <a:gd name="connsiteX4" fmla="*/ 0 w 872528"/>
              <a:gd name="connsiteY4" fmla="*/ 1015058 h 1015058"/>
              <a:gd name="connsiteX0" fmla="*/ 0 w 875614"/>
              <a:gd name="connsiteY0" fmla="*/ 1015058 h 1015058"/>
              <a:gd name="connsiteX1" fmla="*/ 384053 w 875614"/>
              <a:gd name="connsiteY1" fmla="*/ 1012471 h 1015058"/>
              <a:gd name="connsiteX2" fmla="*/ 875614 w 875614"/>
              <a:gd name="connsiteY2" fmla="*/ 269097 h 1015058"/>
              <a:gd name="connsiteX3" fmla="*/ 685304 w 875614"/>
              <a:gd name="connsiteY3" fmla="*/ 0 h 1015058"/>
              <a:gd name="connsiteX4" fmla="*/ 0 w 875614"/>
              <a:gd name="connsiteY4" fmla="*/ 1015058 h 1015058"/>
              <a:gd name="connsiteX0" fmla="*/ 0 w 875614"/>
              <a:gd name="connsiteY0" fmla="*/ 745961 h 745961"/>
              <a:gd name="connsiteX1" fmla="*/ 384053 w 875614"/>
              <a:gd name="connsiteY1" fmla="*/ 743374 h 745961"/>
              <a:gd name="connsiteX2" fmla="*/ 875614 w 875614"/>
              <a:gd name="connsiteY2" fmla="*/ 0 h 745961"/>
              <a:gd name="connsiteX3" fmla="*/ 497607 w 875614"/>
              <a:gd name="connsiteY3" fmla="*/ 6434 h 745961"/>
              <a:gd name="connsiteX4" fmla="*/ 0 w 875614"/>
              <a:gd name="connsiteY4" fmla="*/ 745961 h 745961"/>
              <a:gd name="connsiteX0" fmla="*/ 0 w 874387"/>
              <a:gd name="connsiteY0" fmla="*/ 740820 h 740820"/>
              <a:gd name="connsiteX1" fmla="*/ 384053 w 874387"/>
              <a:gd name="connsiteY1" fmla="*/ 738233 h 740820"/>
              <a:gd name="connsiteX2" fmla="*/ 874387 w 874387"/>
              <a:gd name="connsiteY2" fmla="*/ 0 h 740820"/>
              <a:gd name="connsiteX3" fmla="*/ 497607 w 874387"/>
              <a:gd name="connsiteY3" fmla="*/ 1293 h 740820"/>
              <a:gd name="connsiteX4" fmla="*/ 0 w 874387"/>
              <a:gd name="connsiteY4" fmla="*/ 740820 h 740820"/>
              <a:gd name="connsiteX0" fmla="*/ 0 w 874387"/>
              <a:gd name="connsiteY0" fmla="*/ 742573 h 742573"/>
              <a:gd name="connsiteX1" fmla="*/ 384053 w 874387"/>
              <a:gd name="connsiteY1" fmla="*/ 739986 h 742573"/>
              <a:gd name="connsiteX2" fmla="*/ 874387 w 874387"/>
              <a:gd name="connsiteY2" fmla="*/ 1753 h 742573"/>
              <a:gd name="connsiteX3" fmla="*/ 498334 w 874387"/>
              <a:gd name="connsiteY3" fmla="*/ 0 h 742573"/>
              <a:gd name="connsiteX4" fmla="*/ 0 w 874387"/>
              <a:gd name="connsiteY4" fmla="*/ 742573 h 742573"/>
              <a:gd name="connsiteX0" fmla="*/ 0 w 875114"/>
              <a:gd name="connsiteY0" fmla="*/ 742573 h 742573"/>
              <a:gd name="connsiteX1" fmla="*/ 384053 w 875114"/>
              <a:gd name="connsiteY1" fmla="*/ 739986 h 742573"/>
              <a:gd name="connsiteX2" fmla="*/ 875114 w 875114"/>
              <a:gd name="connsiteY2" fmla="*/ 535 h 742573"/>
              <a:gd name="connsiteX3" fmla="*/ 498334 w 875114"/>
              <a:gd name="connsiteY3" fmla="*/ 0 h 742573"/>
              <a:gd name="connsiteX4" fmla="*/ 0 w 875114"/>
              <a:gd name="connsiteY4" fmla="*/ 742573 h 742573"/>
              <a:gd name="connsiteX0" fmla="*/ 0 w 875114"/>
              <a:gd name="connsiteY0" fmla="*/ 742116 h 742116"/>
              <a:gd name="connsiteX1" fmla="*/ 384053 w 875114"/>
              <a:gd name="connsiteY1" fmla="*/ 739529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  <a:gd name="connsiteX0" fmla="*/ 0 w 875114"/>
              <a:gd name="connsiteY0" fmla="*/ 742116 h 742116"/>
              <a:gd name="connsiteX1" fmla="*/ 384053 w 875114"/>
              <a:gd name="connsiteY1" fmla="*/ 741838 h 742116"/>
              <a:gd name="connsiteX2" fmla="*/ 875114 w 875114"/>
              <a:gd name="connsiteY2" fmla="*/ 78 h 742116"/>
              <a:gd name="connsiteX3" fmla="*/ 497243 w 875114"/>
              <a:gd name="connsiteY3" fmla="*/ 0 h 742116"/>
              <a:gd name="connsiteX4" fmla="*/ 0 w 875114"/>
              <a:gd name="connsiteY4" fmla="*/ 742116 h 74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5114" h="742116">
                <a:moveTo>
                  <a:pt x="0" y="742116"/>
                </a:moveTo>
                <a:lnTo>
                  <a:pt x="384053" y="741838"/>
                </a:lnTo>
                <a:lnTo>
                  <a:pt x="875114" y="78"/>
                </a:lnTo>
                <a:lnTo>
                  <a:pt x="497243" y="0"/>
                </a:lnTo>
                <a:lnTo>
                  <a:pt x="0" y="742116"/>
                </a:lnTo>
                <a:close/>
              </a:path>
            </a:pathLst>
          </a:custGeom>
          <a:solidFill>
            <a:srgbClr val="44B0B1">
              <a:alpha val="24706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FFD039-6A46-3A21-2925-F5B1FDDE8D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1DEB521-A4A0-7137-ABF5-859A3F6D45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3DF7A639-4564-2A6A-3324-B2453E8E3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05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group of people in a meeting&#10;&#10;Description automatically generated">
            <a:extLst>
              <a:ext uri="{FF2B5EF4-FFF2-40B4-BE49-F238E27FC236}">
                <a16:creationId xmlns:a16="http://schemas.microsoft.com/office/drawing/2014/main" id="{4A758298-57B4-AD70-0E0A-D778226836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1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99266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EB6A88A-993E-F951-30A1-6090862EC6C8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L="0" marR="0" indent="0" algn="ctr" defTabSz="110063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64BDB-5682-7099-EE06-0E08E771C741}"/>
              </a:ext>
            </a:extLst>
          </p:cNvPr>
          <p:cNvSpPr/>
          <p:nvPr userDrawn="1"/>
        </p:nvSpPr>
        <p:spPr>
          <a:xfrm flipH="1">
            <a:off x="189187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92000">
                <a:schemeClr val="accent2">
                  <a:alpha val="0"/>
                </a:schemeClr>
              </a:gs>
            </a:gsLst>
            <a:lin ang="1080000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7733" tIns="67733" rIns="67733" bIns="67733" numCol="1" spcCol="38100" rtlCol="0" anchor="ctr">
            <a:noAutofit/>
          </a:bodyPr>
          <a:lstStyle/>
          <a:p>
            <a:pPr marR="0" lvl="0" indent="0" algn="ctr" defTabSz="1100639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426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Graphik-Light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6A413-578E-60B2-DC53-873BCAAB8F22}"/>
              </a:ext>
            </a:extLst>
          </p:cNvPr>
          <p:cNvGrpSpPr/>
          <p:nvPr userDrawn="1"/>
        </p:nvGrpSpPr>
        <p:grpSpPr>
          <a:xfrm>
            <a:off x="625600" y="4994019"/>
            <a:ext cx="2322411" cy="562175"/>
            <a:chOff x="-2459325" y="909338"/>
            <a:chExt cx="2090498" cy="506038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F1149A7-41C5-3111-2D56-15AA166189C9}"/>
                </a:ext>
              </a:extLst>
            </p:cNvPr>
            <p:cNvSpPr/>
            <p:nvPr/>
          </p:nvSpPr>
          <p:spPr>
            <a:xfrm>
              <a:off x="-1594801" y="1254927"/>
              <a:ext cx="109813" cy="111433"/>
            </a:xfrm>
            <a:custGeom>
              <a:avLst/>
              <a:gdLst>
                <a:gd name="connsiteX0" fmla="*/ 49434 w 109813"/>
                <a:gd name="connsiteY0" fmla="*/ 83233 h 111433"/>
                <a:gd name="connsiteX1" fmla="*/ 83776 w 109813"/>
                <a:gd name="connsiteY1" fmla="*/ -10442 h 111433"/>
                <a:gd name="connsiteX2" fmla="*/ 104142 w 109813"/>
                <a:gd name="connsiteY2" fmla="*/ -10442 h 111433"/>
                <a:gd name="connsiteX3" fmla="*/ 60423 w 109813"/>
                <a:gd name="connsiteY3" fmla="*/ 100991 h 111433"/>
                <a:gd name="connsiteX4" fmla="*/ 38030 w 109813"/>
                <a:gd name="connsiteY4" fmla="*/ 100991 h 111433"/>
                <a:gd name="connsiteX5" fmla="*/ -5671 w 109813"/>
                <a:gd name="connsiteY5" fmla="*/ -10262 h 111433"/>
                <a:gd name="connsiteX6" fmla="*/ 14967 w 109813"/>
                <a:gd name="connsiteY6" fmla="*/ -10262 h 111433"/>
                <a:gd name="connsiteX7" fmla="*/ 49434 w 109813"/>
                <a:gd name="connsiteY7" fmla="*/ 83233 h 11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813" h="111433">
                  <a:moveTo>
                    <a:pt x="49434" y="83233"/>
                  </a:moveTo>
                  <a:lnTo>
                    <a:pt x="83776" y="-10442"/>
                  </a:lnTo>
                  <a:lnTo>
                    <a:pt x="104142" y="-10442"/>
                  </a:lnTo>
                  <a:lnTo>
                    <a:pt x="60423" y="100991"/>
                  </a:lnTo>
                  <a:lnTo>
                    <a:pt x="38030" y="100991"/>
                  </a:lnTo>
                  <a:lnTo>
                    <a:pt x="-5671" y="-10262"/>
                  </a:lnTo>
                  <a:lnTo>
                    <a:pt x="14967" y="-10262"/>
                  </a:lnTo>
                  <a:lnTo>
                    <a:pt x="49434" y="83233"/>
                  </a:lnTo>
                  <a:close/>
                </a:path>
              </a:pathLst>
            </a:custGeom>
            <a:solidFill>
              <a:schemeClr val="bg1"/>
            </a:solidFill>
            <a:ln w="180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05AC6C-542E-88F7-5B0B-EB95217AB480}"/>
                </a:ext>
              </a:extLst>
            </p:cNvPr>
            <p:cNvSpPr/>
            <p:nvPr/>
          </p:nvSpPr>
          <p:spPr>
            <a:xfrm rot="19821841">
              <a:off x="-2459325" y="958273"/>
              <a:ext cx="248542" cy="188457"/>
            </a:xfrm>
            <a:custGeom>
              <a:avLst/>
              <a:gdLst>
                <a:gd name="connsiteX0" fmla="*/ -4841 w 248542"/>
                <a:gd name="connsiteY0" fmla="*/ 140058 h 188457"/>
                <a:gd name="connsiteX1" fmla="*/ 243701 w 248542"/>
                <a:gd name="connsiteY1" fmla="*/ -9436 h 188457"/>
                <a:gd name="connsiteX2" fmla="*/ 243290 w 248542"/>
                <a:gd name="connsiteY2" fmla="*/ 70926 h 188457"/>
                <a:gd name="connsiteX3" fmla="*/ 236713 w 248542"/>
                <a:gd name="connsiteY3" fmla="*/ 74863 h 188457"/>
                <a:gd name="connsiteX4" fmla="*/ 63593 w 248542"/>
                <a:gd name="connsiteY4" fmla="*/ 179022 h 188457"/>
                <a:gd name="connsiteX5" fmla="*/ -4841 w 248542"/>
                <a:gd name="connsiteY5" fmla="*/ 140058 h 188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42" h="188457">
                  <a:moveTo>
                    <a:pt x="-4841" y="140058"/>
                  </a:moveTo>
                  <a:lnTo>
                    <a:pt x="243701" y="-9436"/>
                  </a:lnTo>
                  <a:lnTo>
                    <a:pt x="243290" y="70926"/>
                  </a:lnTo>
                  <a:lnTo>
                    <a:pt x="236713" y="74863"/>
                  </a:lnTo>
                  <a:lnTo>
                    <a:pt x="63593" y="179022"/>
                  </a:lnTo>
                  <a:lnTo>
                    <a:pt x="-4841" y="140058"/>
                  </a:lnTo>
                  <a:close/>
                </a:path>
              </a:pathLst>
            </a:custGeom>
            <a:solidFill>
              <a:srgbClr val="00B3B2"/>
            </a:solidFill>
            <a:ln w="368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1F28EE5-0897-4E10-2AC5-C35CD02B3341}"/>
                </a:ext>
              </a:extLst>
            </p:cNvPr>
            <p:cNvSpPr/>
            <p:nvPr/>
          </p:nvSpPr>
          <p:spPr>
            <a:xfrm rot="1712540">
              <a:off x="-2259001" y="948985"/>
              <a:ext cx="242434" cy="288023"/>
            </a:xfrm>
            <a:custGeom>
              <a:avLst/>
              <a:gdLst>
                <a:gd name="connsiteX0" fmla="*/ -2745 w 242434"/>
                <a:gd name="connsiteY0" fmla="*/ 276391 h 288023"/>
                <a:gd name="connsiteX1" fmla="*/ -2745 w 242434"/>
                <a:gd name="connsiteY1" fmla="*/ -11633 h 288023"/>
                <a:gd name="connsiteX2" fmla="*/ 239690 w 242434"/>
                <a:gd name="connsiteY2" fmla="*/ 144627 h 288023"/>
                <a:gd name="connsiteX3" fmla="*/ 181163 w 242434"/>
                <a:gd name="connsiteY3" fmla="*/ 176102 h 288023"/>
                <a:gd name="connsiteX4" fmla="*/ 151465 w 242434"/>
                <a:gd name="connsiteY4" fmla="*/ 157449 h 288023"/>
                <a:gd name="connsiteX5" fmla="*/ 55754 w 242434"/>
                <a:gd name="connsiteY5" fmla="*/ 209922 h 288023"/>
                <a:gd name="connsiteX6" fmla="*/ 55754 w 242434"/>
                <a:gd name="connsiteY6" fmla="*/ 244905 h 288023"/>
                <a:gd name="connsiteX7" fmla="*/ -2745 w 242434"/>
                <a:gd name="connsiteY7" fmla="*/ 276391 h 288023"/>
                <a:gd name="connsiteX8" fmla="*/ 55754 w 242434"/>
                <a:gd name="connsiteY8" fmla="*/ 95649 h 288023"/>
                <a:gd name="connsiteX9" fmla="*/ 55754 w 242434"/>
                <a:gd name="connsiteY9" fmla="*/ 171444 h 288023"/>
                <a:gd name="connsiteX10" fmla="*/ 119153 w 242434"/>
                <a:gd name="connsiteY10" fmla="*/ 136462 h 288023"/>
                <a:gd name="connsiteX11" fmla="*/ 55754 w 242434"/>
                <a:gd name="connsiteY11" fmla="*/ 95649 h 28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434" h="288023">
                  <a:moveTo>
                    <a:pt x="-2745" y="276391"/>
                  </a:moveTo>
                  <a:lnTo>
                    <a:pt x="-2745" y="-11633"/>
                  </a:lnTo>
                  <a:lnTo>
                    <a:pt x="239690" y="144627"/>
                  </a:lnTo>
                  <a:lnTo>
                    <a:pt x="181163" y="176102"/>
                  </a:lnTo>
                  <a:lnTo>
                    <a:pt x="151465" y="157449"/>
                  </a:lnTo>
                  <a:lnTo>
                    <a:pt x="55754" y="209922"/>
                  </a:lnTo>
                  <a:lnTo>
                    <a:pt x="55754" y="244905"/>
                  </a:lnTo>
                  <a:lnTo>
                    <a:pt x="-2745" y="276391"/>
                  </a:lnTo>
                  <a:close/>
                  <a:moveTo>
                    <a:pt x="55754" y="95649"/>
                  </a:moveTo>
                  <a:lnTo>
                    <a:pt x="55754" y="171444"/>
                  </a:lnTo>
                  <a:lnTo>
                    <a:pt x="119153" y="136462"/>
                  </a:lnTo>
                  <a:lnTo>
                    <a:pt x="55754" y="95649"/>
                  </a:lnTo>
                  <a:close/>
                </a:path>
              </a:pathLst>
            </a:custGeom>
            <a:solidFill>
              <a:schemeClr val="bg1"/>
            </a:solidFill>
            <a:ln w="815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69D066-0CB0-513C-D86F-682F79EB6BFE}"/>
                </a:ext>
              </a:extLst>
            </p:cNvPr>
            <p:cNvSpPr/>
            <p:nvPr/>
          </p:nvSpPr>
          <p:spPr>
            <a:xfrm>
              <a:off x="-1995178" y="909338"/>
              <a:ext cx="200128" cy="254152"/>
            </a:xfrm>
            <a:custGeom>
              <a:avLst/>
              <a:gdLst>
                <a:gd name="connsiteX0" fmla="*/ 56742 w 200128"/>
                <a:gd name="connsiteY0" fmla="*/ 84973 h 254152"/>
                <a:gd name="connsiteX1" fmla="*/ 80187 w 200128"/>
                <a:gd name="connsiteY1" fmla="*/ 63567 h 254152"/>
                <a:gd name="connsiteX2" fmla="*/ 115184 w 200128"/>
                <a:gd name="connsiteY2" fmla="*/ 55411 h 254152"/>
                <a:gd name="connsiteX3" fmla="*/ 157655 w 200128"/>
                <a:gd name="connsiteY3" fmla="*/ 67303 h 254152"/>
                <a:gd name="connsiteX4" fmla="*/ 187725 w 200128"/>
                <a:gd name="connsiteY4" fmla="*/ 101281 h 254152"/>
                <a:gd name="connsiteX5" fmla="*/ 198769 w 200128"/>
                <a:gd name="connsiteY5" fmla="*/ 152589 h 254152"/>
                <a:gd name="connsiteX6" fmla="*/ 187725 w 200128"/>
                <a:gd name="connsiteY6" fmla="*/ 204065 h 254152"/>
                <a:gd name="connsiteX7" fmla="*/ 157655 w 200128"/>
                <a:gd name="connsiteY7" fmla="*/ 238380 h 254152"/>
                <a:gd name="connsiteX8" fmla="*/ 115184 w 200128"/>
                <a:gd name="connsiteY8" fmla="*/ 250443 h 254152"/>
                <a:gd name="connsiteX9" fmla="*/ 80187 w 200128"/>
                <a:gd name="connsiteY9" fmla="*/ 242459 h 254152"/>
                <a:gd name="connsiteX10" fmla="*/ 56742 w 200128"/>
                <a:gd name="connsiteY10" fmla="*/ 221221 h 254152"/>
                <a:gd name="connsiteX11" fmla="*/ 56742 w 200128"/>
                <a:gd name="connsiteY11" fmla="*/ 247725 h 254152"/>
                <a:gd name="connsiteX12" fmla="*/ -1359 w 200128"/>
                <a:gd name="connsiteY12" fmla="*/ 247725 h 254152"/>
                <a:gd name="connsiteX13" fmla="*/ -1359 w 200128"/>
                <a:gd name="connsiteY13" fmla="*/ -3709 h 254152"/>
                <a:gd name="connsiteX14" fmla="*/ 56742 w 200128"/>
                <a:gd name="connsiteY14" fmla="*/ -3709 h 254152"/>
                <a:gd name="connsiteX15" fmla="*/ 56742 w 200128"/>
                <a:gd name="connsiteY15" fmla="*/ 84973 h 254152"/>
                <a:gd name="connsiteX16" fmla="*/ 139648 w 200128"/>
                <a:gd name="connsiteY16" fmla="*/ 152589 h 254152"/>
                <a:gd name="connsiteX17" fmla="*/ 127585 w 200128"/>
                <a:gd name="connsiteY17" fmla="*/ 118440 h 254152"/>
                <a:gd name="connsiteX18" fmla="*/ 97854 w 200128"/>
                <a:gd name="connsiteY18" fmla="*/ 106039 h 254152"/>
                <a:gd name="connsiteX19" fmla="*/ 68463 w 200128"/>
                <a:gd name="connsiteY19" fmla="*/ 118611 h 254152"/>
                <a:gd name="connsiteX20" fmla="*/ 56403 w 200128"/>
                <a:gd name="connsiteY20" fmla="*/ 152928 h 254152"/>
                <a:gd name="connsiteX21" fmla="*/ 68463 w 200128"/>
                <a:gd name="connsiteY21" fmla="*/ 187246 h 254152"/>
                <a:gd name="connsiteX22" fmla="*/ 97854 w 200128"/>
                <a:gd name="connsiteY22" fmla="*/ 199817 h 254152"/>
                <a:gd name="connsiteX23" fmla="*/ 127416 w 200128"/>
                <a:gd name="connsiteY23" fmla="*/ 187075 h 254152"/>
                <a:gd name="connsiteX24" fmla="*/ 139648 w 200128"/>
                <a:gd name="connsiteY24" fmla="*/ 152589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56742" y="84973"/>
                  </a:moveTo>
                  <a:cubicBezTo>
                    <a:pt x="62178" y="76138"/>
                    <a:pt x="69993" y="69002"/>
                    <a:pt x="80187" y="63567"/>
                  </a:cubicBezTo>
                  <a:cubicBezTo>
                    <a:pt x="90381" y="58131"/>
                    <a:pt x="102045" y="55411"/>
                    <a:pt x="115184" y="55411"/>
                  </a:cubicBezTo>
                  <a:cubicBezTo>
                    <a:pt x="130813" y="55411"/>
                    <a:pt x="144969" y="59376"/>
                    <a:pt x="157655" y="67303"/>
                  </a:cubicBezTo>
                  <a:cubicBezTo>
                    <a:pt x="170340" y="75233"/>
                    <a:pt x="180363" y="86557"/>
                    <a:pt x="187725" y="101281"/>
                  </a:cubicBezTo>
                  <a:cubicBezTo>
                    <a:pt x="195087" y="116005"/>
                    <a:pt x="198769" y="133107"/>
                    <a:pt x="198769" y="152589"/>
                  </a:cubicBezTo>
                  <a:cubicBezTo>
                    <a:pt x="198769" y="172068"/>
                    <a:pt x="195087" y="189227"/>
                    <a:pt x="187725" y="204065"/>
                  </a:cubicBezTo>
                  <a:cubicBezTo>
                    <a:pt x="180363" y="218900"/>
                    <a:pt x="170340" y="230339"/>
                    <a:pt x="157655" y="238380"/>
                  </a:cubicBezTo>
                  <a:cubicBezTo>
                    <a:pt x="144969" y="246421"/>
                    <a:pt x="130813" y="250443"/>
                    <a:pt x="115184" y="250443"/>
                  </a:cubicBezTo>
                  <a:cubicBezTo>
                    <a:pt x="101819" y="250443"/>
                    <a:pt x="90153" y="247782"/>
                    <a:pt x="80187" y="242459"/>
                  </a:cubicBezTo>
                  <a:cubicBezTo>
                    <a:pt x="70219" y="237135"/>
                    <a:pt x="62403" y="230056"/>
                    <a:pt x="56742" y="221221"/>
                  </a:cubicBezTo>
                  <a:lnTo>
                    <a:pt x="56742" y="247725"/>
                  </a:lnTo>
                  <a:lnTo>
                    <a:pt x="-1359" y="247725"/>
                  </a:lnTo>
                  <a:lnTo>
                    <a:pt x="-1359" y="-3709"/>
                  </a:lnTo>
                  <a:lnTo>
                    <a:pt x="56742" y="-3709"/>
                  </a:lnTo>
                  <a:lnTo>
                    <a:pt x="56742" y="84973"/>
                  </a:lnTo>
                  <a:close/>
                  <a:moveTo>
                    <a:pt x="139648" y="152589"/>
                  </a:moveTo>
                  <a:cubicBezTo>
                    <a:pt x="139648" y="138091"/>
                    <a:pt x="135626" y="126709"/>
                    <a:pt x="127585" y="118440"/>
                  </a:cubicBezTo>
                  <a:cubicBezTo>
                    <a:pt x="119543" y="110173"/>
                    <a:pt x="109632" y="106039"/>
                    <a:pt x="97854" y="106039"/>
                  </a:cubicBezTo>
                  <a:cubicBezTo>
                    <a:pt x="86302" y="106039"/>
                    <a:pt x="76505" y="110230"/>
                    <a:pt x="68463" y="118611"/>
                  </a:cubicBezTo>
                  <a:cubicBezTo>
                    <a:pt x="60422" y="126992"/>
                    <a:pt x="56403" y="138430"/>
                    <a:pt x="56403" y="152928"/>
                  </a:cubicBezTo>
                  <a:cubicBezTo>
                    <a:pt x="56403" y="167424"/>
                    <a:pt x="60422" y="178862"/>
                    <a:pt x="68463" y="187246"/>
                  </a:cubicBezTo>
                  <a:cubicBezTo>
                    <a:pt x="76505" y="195627"/>
                    <a:pt x="86302" y="199817"/>
                    <a:pt x="97854" y="199817"/>
                  </a:cubicBezTo>
                  <a:cubicBezTo>
                    <a:pt x="109407" y="199817"/>
                    <a:pt x="119261" y="195570"/>
                    <a:pt x="127416" y="187075"/>
                  </a:cubicBezTo>
                  <a:cubicBezTo>
                    <a:pt x="135569" y="178580"/>
                    <a:pt x="139648" y="167084"/>
                    <a:pt x="139648" y="15258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F27C78-1C01-44A3-C202-4099689ECD55}"/>
                </a:ext>
              </a:extLst>
            </p:cNvPr>
            <p:cNvSpPr/>
            <p:nvPr/>
          </p:nvSpPr>
          <p:spPr>
            <a:xfrm>
              <a:off x="-1741943" y="968459"/>
              <a:ext cx="190274" cy="195031"/>
            </a:xfrm>
            <a:custGeom>
              <a:avLst/>
              <a:gdLst>
                <a:gd name="connsiteX0" fmla="*/ 188078 w 190274"/>
                <a:gd name="connsiteY0" fmla="*/ 90645 h 195031"/>
                <a:gd name="connsiteX1" fmla="*/ 187059 w 190274"/>
                <a:gd name="connsiteY1" fmla="*/ 107635 h 195031"/>
                <a:gd name="connsiteX2" fmla="*/ 55566 w 190274"/>
                <a:gd name="connsiteY2" fmla="*/ 107635 h 195031"/>
                <a:gd name="connsiteX3" fmla="*/ 66948 w 190274"/>
                <a:gd name="connsiteY3" fmla="*/ 134648 h 195031"/>
                <a:gd name="connsiteX4" fmla="*/ 91582 w 190274"/>
                <a:gd name="connsiteY4" fmla="*/ 143991 h 195031"/>
                <a:gd name="connsiteX5" fmla="*/ 121821 w 190274"/>
                <a:gd name="connsiteY5" fmla="*/ 125642 h 195031"/>
                <a:gd name="connsiteX6" fmla="*/ 183660 w 190274"/>
                <a:gd name="connsiteY6" fmla="*/ 125642 h 195031"/>
                <a:gd name="connsiteX7" fmla="*/ 166503 w 190274"/>
                <a:gd name="connsiteY7" fmla="*/ 159280 h 195031"/>
                <a:gd name="connsiteX8" fmla="*/ 135412 w 190274"/>
                <a:gd name="connsiteY8" fmla="*/ 182724 h 195031"/>
                <a:gd name="connsiteX9" fmla="*/ 93621 w 190274"/>
                <a:gd name="connsiteY9" fmla="*/ 191219 h 195031"/>
                <a:gd name="connsiteX10" fmla="*/ 44014 w 190274"/>
                <a:gd name="connsiteY10" fmla="*/ 179327 h 195031"/>
                <a:gd name="connsiteX11" fmla="*/ 10036 w 190274"/>
                <a:gd name="connsiteY11" fmla="*/ 145350 h 195031"/>
                <a:gd name="connsiteX12" fmla="*/ -2196 w 190274"/>
                <a:gd name="connsiteY12" fmla="*/ 93705 h 195031"/>
                <a:gd name="connsiteX13" fmla="*/ 9865 w 190274"/>
                <a:gd name="connsiteY13" fmla="*/ 42057 h 195031"/>
                <a:gd name="connsiteX14" fmla="*/ 43674 w 190274"/>
                <a:gd name="connsiteY14" fmla="*/ 8080 h 195031"/>
                <a:gd name="connsiteX15" fmla="*/ 93621 w 190274"/>
                <a:gd name="connsiteY15" fmla="*/ -3812 h 195031"/>
                <a:gd name="connsiteX16" fmla="*/ 142548 w 190274"/>
                <a:gd name="connsiteY16" fmla="*/ 7740 h 195031"/>
                <a:gd name="connsiteX17" fmla="*/ 176015 w 190274"/>
                <a:gd name="connsiteY17" fmla="*/ 40699 h 195031"/>
                <a:gd name="connsiteX18" fmla="*/ 188078 w 190274"/>
                <a:gd name="connsiteY18" fmla="*/ 90645 h 195031"/>
                <a:gd name="connsiteX19" fmla="*/ 128618 w 190274"/>
                <a:gd name="connsiteY19" fmla="*/ 75356 h 195031"/>
                <a:gd name="connsiteX20" fmla="*/ 118424 w 190274"/>
                <a:gd name="connsiteY20" fmla="*/ 51572 h 195031"/>
                <a:gd name="connsiteX21" fmla="*/ 92941 w 190274"/>
                <a:gd name="connsiteY21" fmla="*/ 42737 h 195031"/>
                <a:gd name="connsiteX22" fmla="*/ 68307 w 190274"/>
                <a:gd name="connsiteY22" fmla="*/ 51232 h 195031"/>
                <a:gd name="connsiteX23" fmla="*/ 55906 w 190274"/>
                <a:gd name="connsiteY23" fmla="*/ 75356 h 195031"/>
                <a:gd name="connsiteX24" fmla="*/ 12861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8078" y="90645"/>
                  </a:moveTo>
                  <a:cubicBezTo>
                    <a:pt x="188078" y="96083"/>
                    <a:pt x="187739" y="101746"/>
                    <a:pt x="187059" y="107635"/>
                  </a:cubicBezTo>
                  <a:lnTo>
                    <a:pt x="55566" y="107635"/>
                  </a:lnTo>
                  <a:cubicBezTo>
                    <a:pt x="56471" y="119413"/>
                    <a:pt x="60265" y="128416"/>
                    <a:pt x="66948" y="134648"/>
                  </a:cubicBezTo>
                  <a:cubicBezTo>
                    <a:pt x="73630" y="140876"/>
                    <a:pt x="81843" y="143991"/>
                    <a:pt x="91582" y="143991"/>
                  </a:cubicBezTo>
                  <a:cubicBezTo>
                    <a:pt x="106078" y="143991"/>
                    <a:pt x="116158" y="137874"/>
                    <a:pt x="121821" y="125642"/>
                  </a:cubicBezTo>
                  <a:lnTo>
                    <a:pt x="183660" y="125642"/>
                  </a:lnTo>
                  <a:cubicBezTo>
                    <a:pt x="180491" y="138102"/>
                    <a:pt x="174770" y="149314"/>
                    <a:pt x="166503" y="159280"/>
                  </a:cubicBezTo>
                  <a:cubicBezTo>
                    <a:pt x="158234" y="169248"/>
                    <a:pt x="147872" y="177061"/>
                    <a:pt x="135412" y="182724"/>
                  </a:cubicBezTo>
                  <a:cubicBezTo>
                    <a:pt x="122954" y="188388"/>
                    <a:pt x="109024" y="191219"/>
                    <a:pt x="93621" y="191219"/>
                  </a:cubicBezTo>
                  <a:cubicBezTo>
                    <a:pt x="75046" y="191219"/>
                    <a:pt x="58510" y="187255"/>
                    <a:pt x="44014" y="179327"/>
                  </a:cubicBezTo>
                  <a:cubicBezTo>
                    <a:pt x="29516" y="171400"/>
                    <a:pt x="18189" y="160073"/>
                    <a:pt x="10036" y="145350"/>
                  </a:cubicBezTo>
                  <a:cubicBezTo>
                    <a:pt x="1881" y="130626"/>
                    <a:pt x="-2196" y="113410"/>
                    <a:pt x="-2196" y="93705"/>
                  </a:cubicBezTo>
                  <a:cubicBezTo>
                    <a:pt x="-2196" y="73997"/>
                    <a:pt x="1824" y="56781"/>
                    <a:pt x="9865" y="42057"/>
                  </a:cubicBezTo>
                  <a:cubicBezTo>
                    <a:pt x="17906" y="27334"/>
                    <a:pt x="29176" y="16009"/>
                    <a:pt x="43674" y="8080"/>
                  </a:cubicBezTo>
                  <a:cubicBezTo>
                    <a:pt x="58170" y="152"/>
                    <a:pt x="74820" y="-3812"/>
                    <a:pt x="93621" y="-3812"/>
                  </a:cubicBezTo>
                  <a:cubicBezTo>
                    <a:pt x="111967" y="-3812"/>
                    <a:pt x="128278" y="38"/>
                    <a:pt x="142548" y="7740"/>
                  </a:cubicBezTo>
                  <a:cubicBezTo>
                    <a:pt x="156818" y="15442"/>
                    <a:pt x="167974" y="26429"/>
                    <a:pt x="176015" y="40699"/>
                  </a:cubicBezTo>
                  <a:cubicBezTo>
                    <a:pt x="184057" y="54969"/>
                    <a:pt x="188078" y="71619"/>
                    <a:pt x="188078" y="90645"/>
                  </a:cubicBezTo>
                  <a:close/>
                  <a:moveTo>
                    <a:pt x="128618" y="75356"/>
                  </a:moveTo>
                  <a:cubicBezTo>
                    <a:pt x="128618" y="65388"/>
                    <a:pt x="125221" y="57461"/>
                    <a:pt x="118424" y="51572"/>
                  </a:cubicBezTo>
                  <a:cubicBezTo>
                    <a:pt x="111628" y="45683"/>
                    <a:pt x="103135" y="42737"/>
                    <a:pt x="92941" y="42737"/>
                  </a:cubicBezTo>
                  <a:cubicBezTo>
                    <a:pt x="83201" y="42737"/>
                    <a:pt x="74989" y="45569"/>
                    <a:pt x="68307" y="51232"/>
                  </a:cubicBezTo>
                  <a:cubicBezTo>
                    <a:pt x="61624" y="56895"/>
                    <a:pt x="57490" y="64937"/>
                    <a:pt x="55906" y="75356"/>
                  </a:cubicBezTo>
                  <a:lnTo>
                    <a:pt x="12861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EFA9051-2E1F-B4A2-151F-6EF4797D166C}"/>
                </a:ext>
              </a:extLst>
            </p:cNvPr>
            <p:cNvSpPr/>
            <p:nvPr/>
          </p:nvSpPr>
          <p:spPr>
            <a:xfrm>
              <a:off x="-1487570" y="969138"/>
              <a:ext cx="117562" cy="191634"/>
            </a:xfrm>
            <a:custGeom>
              <a:avLst/>
              <a:gdLst>
                <a:gd name="connsiteX0" fmla="*/ 55173 w 117562"/>
                <a:gd name="connsiteY0" fmla="*/ 29829 h 191634"/>
                <a:gd name="connsiteX1" fmla="*/ 80656 w 117562"/>
                <a:gd name="connsiteY1" fmla="*/ 5197 h 191634"/>
                <a:gd name="connsiteX2" fmla="*/ 114633 w 117562"/>
                <a:gd name="connsiteY2" fmla="*/ -3809 h 191634"/>
                <a:gd name="connsiteX3" fmla="*/ 114633 w 117562"/>
                <a:gd name="connsiteY3" fmla="*/ 57692 h 191634"/>
                <a:gd name="connsiteX4" fmla="*/ 98662 w 117562"/>
                <a:gd name="connsiteY4" fmla="*/ 57692 h 191634"/>
                <a:gd name="connsiteX5" fmla="*/ 66046 w 117562"/>
                <a:gd name="connsiteY5" fmla="*/ 67035 h 191634"/>
                <a:gd name="connsiteX6" fmla="*/ 55173 w 117562"/>
                <a:gd name="connsiteY6" fmla="*/ 99823 h 191634"/>
                <a:gd name="connsiteX7" fmla="*/ 55173 w 117562"/>
                <a:gd name="connsiteY7" fmla="*/ 187826 h 191634"/>
                <a:gd name="connsiteX8" fmla="*/ -2929 w 117562"/>
                <a:gd name="connsiteY8" fmla="*/ 187826 h 191634"/>
                <a:gd name="connsiteX9" fmla="*/ -2929 w 117562"/>
                <a:gd name="connsiteY9" fmla="*/ -1768 h 191634"/>
                <a:gd name="connsiteX10" fmla="*/ 55173 w 117562"/>
                <a:gd name="connsiteY10" fmla="*/ -1768 h 191634"/>
                <a:gd name="connsiteX11" fmla="*/ 55173 w 117562"/>
                <a:gd name="connsiteY11" fmla="*/ 2982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562" h="191634">
                  <a:moveTo>
                    <a:pt x="55173" y="29829"/>
                  </a:moveTo>
                  <a:cubicBezTo>
                    <a:pt x="61967" y="19410"/>
                    <a:pt x="70462" y="11200"/>
                    <a:pt x="80656" y="5197"/>
                  </a:cubicBezTo>
                  <a:cubicBezTo>
                    <a:pt x="90849" y="-806"/>
                    <a:pt x="102176" y="-3809"/>
                    <a:pt x="114633" y="-3809"/>
                  </a:cubicBezTo>
                  <a:lnTo>
                    <a:pt x="114633" y="57692"/>
                  </a:lnTo>
                  <a:lnTo>
                    <a:pt x="98662" y="57692"/>
                  </a:lnTo>
                  <a:cubicBezTo>
                    <a:pt x="84167" y="57692"/>
                    <a:pt x="73294" y="60807"/>
                    <a:pt x="66046" y="67035"/>
                  </a:cubicBezTo>
                  <a:cubicBezTo>
                    <a:pt x="58795" y="73264"/>
                    <a:pt x="55173" y="84194"/>
                    <a:pt x="55173" y="99823"/>
                  </a:cubicBezTo>
                  <a:lnTo>
                    <a:pt x="55173" y="187826"/>
                  </a:lnTo>
                  <a:lnTo>
                    <a:pt x="-2929" y="187826"/>
                  </a:lnTo>
                  <a:lnTo>
                    <a:pt x="-2929" y="-1768"/>
                  </a:lnTo>
                  <a:lnTo>
                    <a:pt x="55173" y="-1768"/>
                  </a:lnTo>
                  <a:lnTo>
                    <a:pt x="55173" y="29829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3A024D-033C-C799-0DB3-71371F866928}"/>
                </a:ext>
              </a:extLst>
            </p:cNvPr>
            <p:cNvSpPr/>
            <p:nvPr/>
          </p:nvSpPr>
          <p:spPr>
            <a:xfrm>
              <a:off x="-1317989" y="909338"/>
              <a:ext cx="200128" cy="254152"/>
            </a:xfrm>
            <a:custGeom>
              <a:avLst/>
              <a:gdLst>
                <a:gd name="connsiteX0" fmla="*/ -3629 w 200128"/>
                <a:gd name="connsiteY0" fmla="*/ 152589 h 254152"/>
                <a:gd name="connsiteX1" fmla="*/ 7413 w 200128"/>
                <a:gd name="connsiteY1" fmla="*/ 101281 h 254152"/>
                <a:gd name="connsiteX2" fmla="*/ 37483 w 200128"/>
                <a:gd name="connsiteY2" fmla="*/ 67303 h 254152"/>
                <a:gd name="connsiteX3" fmla="*/ 79956 w 200128"/>
                <a:gd name="connsiteY3" fmla="*/ 55411 h 254152"/>
                <a:gd name="connsiteX4" fmla="*/ 114103 w 200128"/>
                <a:gd name="connsiteY4" fmla="*/ 63227 h 254152"/>
                <a:gd name="connsiteX5" fmla="*/ 138398 w 200128"/>
                <a:gd name="connsiteY5" fmla="*/ 84294 h 254152"/>
                <a:gd name="connsiteX6" fmla="*/ 138398 w 200128"/>
                <a:gd name="connsiteY6" fmla="*/ -3709 h 254152"/>
                <a:gd name="connsiteX7" fmla="*/ 196500 w 200128"/>
                <a:gd name="connsiteY7" fmla="*/ -3709 h 254152"/>
                <a:gd name="connsiteX8" fmla="*/ 196500 w 200128"/>
                <a:gd name="connsiteY8" fmla="*/ 247725 h 254152"/>
                <a:gd name="connsiteX9" fmla="*/ 138398 w 200128"/>
                <a:gd name="connsiteY9" fmla="*/ 247725 h 254152"/>
                <a:gd name="connsiteX10" fmla="*/ 138398 w 200128"/>
                <a:gd name="connsiteY10" fmla="*/ 220542 h 254152"/>
                <a:gd name="connsiteX11" fmla="*/ 115122 w 200128"/>
                <a:gd name="connsiteY11" fmla="*/ 242288 h 254152"/>
                <a:gd name="connsiteX12" fmla="*/ 79956 w 200128"/>
                <a:gd name="connsiteY12" fmla="*/ 250443 h 254152"/>
                <a:gd name="connsiteX13" fmla="*/ 37483 w 200128"/>
                <a:gd name="connsiteY13" fmla="*/ 238380 h 254152"/>
                <a:gd name="connsiteX14" fmla="*/ 7413 w 200128"/>
                <a:gd name="connsiteY14" fmla="*/ 204065 h 254152"/>
                <a:gd name="connsiteX15" fmla="*/ -3629 w 200128"/>
                <a:gd name="connsiteY15" fmla="*/ 152589 h 254152"/>
                <a:gd name="connsiteX16" fmla="*/ 138398 w 200128"/>
                <a:gd name="connsiteY16" fmla="*/ 152928 h 254152"/>
                <a:gd name="connsiteX17" fmla="*/ 126334 w 200128"/>
                <a:gd name="connsiteY17" fmla="*/ 118611 h 254152"/>
                <a:gd name="connsiteX18" fmla="*/ 96944 w 200128"/>
                <a:gd name="connsiteY18" fmla="*/ 106039 h 254152"/>
                <a:gd name="connsiteX19" fmla="*/ 67553 w 200128"/>
                <a:gd name="connsiteY19" fmla="*/ 118440 h 254152"/>
                <a:gd name="connsiteX20" fmla="*/ 55492 w 200128"/>
                <a:gd name="connsiteY20" fmla="*/ 152589 h 254152"/>
                <a:gd name="connsiteX21" fmla="*/ 67553 w 200128"/>
                <a:gd name="connsiteY21" fmla="*/ 187075 h 254152"/>
                <a:gd name="connsiteX22" fmla="*/ 96944 w 200128"/>
                <a:gd name="connsiteY22" fmla="*/ 199817 h 254152"/>
                <a:gd name="connsiteX23" fmla="*/ 126334 w 200128"/>
                <a:gd name="connsiteY23" fmla="*/ 187246 h 254152"/>
                <a:gd name="connsiteX24" fmla="*/ 138398 w 200128"/>
                <a:gd name="connsiteY24" fmla="*/ 152928 h 25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0128" h="254152">
                  <a:moveTo>
                    <a:pt x="-3629" y="152589"/>
                  </a:moveTo>
                  <a:cubicBezTo>
                    <a:pt x="-3629" y="133107"/>
                    <a:pt x="51" y="116005"/>
                    <a:pt x="7413" y="101281"/>
                  </a:cubicBezTo>
                  <a:cubicBezTo>
                    <a:pt x="14775" y="86557"/>
                    <a:pt x="24797" y="75233"/>
                    <a:pt x="37483" y="67303"/>
                  </a:cubicBezTo>
                  <a:cubicBezTo>
                    <a:pt x="50169" y="59376"/>
                    <a:pt x="64325" y="55411"/>
                    <a:pt x="79956" y="55411"/>
                  </a:cubicBezTo>
                  <a:cubicBezTo>
                    <a:pt x="92413" y="55411"/>
                    <a:pt x="103797" y="58017"/>
                    <a:pt x="114103" y="63227"/>
                  </a:cubicBezTo>
                  <a:cubicBezTo>
                    <a:pt x="124410" y="68437"/>
                    <a:pt x="132509" y="75459"/>
                    <a:pt x="138398" y="84294"/>
                  </a:cubicBezTo>
                  <a:lnTo>
                    <a:pt x="138398" y="-3709"/>
                  </a:lnTo>
                  <a:lnTo>
                    <a:pt x="196500" y="-3709"/>
                  </a:lnTo>
                  <a:lnTo>
                    <a:pt x="196500" y="247725"/>
                  </a:lnTo>
                  <a:lnTo>
                    <a:pt x="138398" y="247725"/>
                  </a:lnTo>
                  <a:lnTo>
                    <a:pt x="138398" y="220542"/>
                  </a:lnTo>
                  <a:cubicBezTo>
                    <a:pt x="132960" y="229605"/>
                    <a:pt x="125201" y="236852"/>
                    <a:pt x="115122" y="242288"/>
                  </a:cubicBezTo>
                  <a:cubicBezTo>
                    <a:pt x="105042" y="247725"/>
                    <a:pt x="93319" y="250443"/>
                    <a:pt x="79956" y="250443"/>
                  </a:cubicBezTo>
                  <a:cubicBezTo>
                    <a:pt x="64325" y="250443"/>
                    <a:pt x="50169" y="246421"/>
                    <a:pt x="37483" y="238380"/>
                  </a:cubicBezTo>
                  <a:cubicBezTo>
                    <a:pt x="24797" y="230339"/>
                    <a:pt x="14775" y="218900"/>
                    <a:pt x="7413" y="204065"/>
                  </a:cubicBezTo>
                  <a:cubicBezTo>
                    <a:pt x="51" y="189227"/>
                    <a:pt x="-3629" y="172068"/>
                    <a:pt x="-3629" y="152589"/>
                  </a:cubicBezTo>
                  <a:close/>
                  <a:moveTo>
                    <a:pt x="138398" y="152928"/>
                  </a:moveTo>
                  <a:cubicBezTo>
                    <a:pt x="138398" y="138430"/>
                    <a:pt x="134376" y="126992"/>
                    <a:pt x="126334" y="118611"/>
                  </a:cubicBezTo>
                  <a:cubicBezTo>
                    <a:pt x="118293" y="110230"/>
                    <a:pt x="108496" y="106039"/>
                    <a:pt x="96944" y="106039"/>
                  </a:cubicBezTo>
                  <a:cubicBezTo>
                    <a:pt x="85391" y="106039"/>
                    <a:pt x="75594" y="110173"/>
                    <a:pt x="67553" y="118440"/>
                  </a:cubicBezTo>
                  <a:cubicBezTo>
                    <a:pt x="59512" y="126709"/>
                    <a:pt x="55492" y="138091"/>
                    <a:pt x="55492" y="152589"/>
                  </a:cubicBezTo>
                  <a:cubicBezTo>
                    <a:pt x="55492" y="167084"/>
                    <a:pt x="59512" y="178580"/>
                    <a:pt x="67553" y="187075"/>
                  </a:cubicBezTo>
                  <a:cubicBezTo>
                    <a:pt x="75594" y="195570"/>
                    <a:pt x="85391" y="199817"/>
                    <a:pt x="96944" y="199817"/>
                  </a:cubicBezTo>
                  <a:cubicBezTo>
                    <a:pt x="108496" y="199817"/>
                    <a:pt x="118293" y="195627"/>
                    <a:pt x="126334" y="187246"/>
                  </a:cubicBezTo>
                  <a:cubicBezTo>
                    <a:pt x="134376" y="178862"/>
                    <a:pt x="138398" y="167424"/>
                    <a:pt x="138398" y="152928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5ABB2D2-2EF0-D2C1-CD04-98CC0265D0EC}"/>
                </a:ext>
              </a:extLst>
            </p:cNvPr>
            <p:cNvSpPr/>
            <p:nvPr/>
          </p:nvSpPr>
          <p:spPr>
            <a:xfrm>
              <a:off x="-1055392" y="968459"/>
              <a:ext cx="190274" cy="195031"/>
            </a:xfrm>
            <a:custGeom>
              <a:avLst/>
              <a:gdLst>
                <a:gd name="connsiteX0" fmla="*/ 185768 w 190274"/>
                <a:gd name="connsiteY0" fmla="*/ 90645 h 195031"/>
                <a:gd name="connsiteX1" fmla="*/ 184749 w 190274"/>
                <a:gd name="connsiteY1" fmla="*/ 107635 h 195031"/>
                <a:gd name="connsiteX2" fmla="*/ 53256 w 190274"/>
                <a:gd name="connsiteY2" fmla="*/ 107635 h 195031"/>
                <a:gd name="connsiteX3" fmla="*/ 64637 w 190274"/>
                <a:gd name="connsiteY3" fmla="*/ 134648 h 195031"/>
                <a:gd name="connsiteX4" fmla="*/ 89272 w 190274"/>
                <a:gd name="connsiteY4" fmla="*/ 143991 h 195031"/>
                <a:gd name="connsiteX5" fmla="*/ 119510 w 190274"/>
                <a:gd name="connsiteY5" fmla="*/ 125642 h 195031"/>
                <a:gd name="connsiteX6" fmla="*/ 181352 w 190274"/>
                <a:gd name="connsiteY6" fmla="*/ 125642 h 195031"/>
                <a:gd name="connsiteX7" fmla="*/ 164190 w 190274"/>
                <a:gd name="connsiteY7" fmla="*/ 159280 h 195031"/>
                <a:gd name="connsiteX8" fmla="*/ 133101 w 190274"/>
                <a:gd name="connsiteY8" fmla="*/ 182724 h 195031"/>
                <a:gd name="connsiteX9" fmla="*/ 91310 w 190274"/>
                <a:gd name="connsiteY9" fmla="*/ 191219 h 195031"/>
                <a:gd name="connsiteX10" fmla="*/ 41703 w 190274"/>
                <a:gd name="connsiteY10" fmla="*/ 179327 h 195031"/>
                <a:gd name="connsiteX11" fmla="*/ 7725 w 190274"/>
                <a:gd name="connsiteY11" fmla="*/ 145350 h 195031"/>
                <a:gd name="connsiteX12" fmla="*/ -4507 w 190274"/>
                <a:gd name="connsiteY12" fmla="*/ 93705 h 195031"/>
                <a:gd name="connsiteX13" fmla="*/ 7554 w 190274"/>
                <a:gd name="connsiteY13" fmla="*/ 42057 h 195031"/>
                <a:gd name="connsiteX14" fmla="*/ 41363 w 190274"/>
                <a:gd name="connsiteY14" fmla="*/ 8080 h 195031"/>
                <a:gd name="connsiteX15" fmla="*/ 91310 w 190274"/>
                <a:gd name="connsiteY15" fmla="*/ -3812 h 195031"/>
                <a:gd name="connsiteX16" fmla="*/ 140237 w 190274"/>
                <a:gd name="connsiteY16" fmla="*/ 7740 h 195031"/>
                <a:gd name="connsiteX17" fmla="*/ 173705 w 190274"/>
                <a:gd name="connsiteY17" fmla="*/ 40699 h 195031"/>
                <a:gd name="connsiteX18" fmla="*/ 185768 w 190274"/>
                <a:gd name="connsiteY18" fmla="*/ 90645 h 195031"/>
                <a:gd name="connsiteX19" fmla="*/ 126307 w 190274"/>
                <a:gd name="connsiteY19" fmla="*/ 75356 h 195031"/>
                <a:gd name="connsiteX20" fmla="*/ 116113 w 190274"/>
                <a:gd name="connsiteY20" fmla="*/ 51572 h 195031"/>
                <a:gd name="connsiteX21" fmla="*/ 90631 w 190274"/>
                <a:gd name="connsiteY21" fmla="*/ 42737 h 195031"/>
                <a:gd name="connsiteX22" fmla="*/ 65996 w 190274"/>
                <a:gd name="connsiteY22" fmla="*/ 51232 h 195031"/>
                <a:gd name="connsiteX23" fmla="*/ 53595 w 190274"/>
                <a:gd name="connsiteY23" fmla="*/ 75356 h 195031"/>
                <a:gd name="connsiteX24" fmla="*/ 126307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5768" y="90645"/>
                  </a:moveTo>
                  <a:cubicBezTo>
                    <a:pt x="185768" y="96083"/>
                    <a:pt x="185428" y="101746"/>
                    <a:pt x="184749" y="107635"/>
                  </a:cubicBezTo>
                  <a:lnTo>
                    <a:pt x="53256" y="107635"/>
                  </a:lnTo>
                  <a:cubicBezTo>
                    <a:pt x="54161" y="119413"/>
                    <a:pt x="57954" y="128416"/>
                    <a:pt x="64637" y="134648"/>
                  </a:cubicBezTo>
                  <a:cubicBezTo>
                    <a:pt x="71319" y="140876"/>
                    <a:pt x="79532" y="143991"/>
                    <a:pt x="89272" y="143991"/>
                  </a:cubicBezTo>
                  <a:cubicBezTo>
                    <a:pt x="103767" y="143991"/>
                    <a:pt x="113847" y="137874"/>
                    <a:pt x="119510" y="125642"/>
                  </a:cubicBezTo>
                  <a:lnTo>
                    <a:pt x="181352" y="125642"/>
                  </a:lnTo>
                  <a:cubicBezTo>
                    <a:pt x="178180" y="138102"/>
                    <a:pt x="172460" y="149314"/>
                    <a:pt x="164190" y="159280"/>
                  </a:cubicBezTo>
                  <a:cubicBezTo>
                    <a:pt x="155923" y="169248"/>
                    <a:pt x="145561" y="177061"/>
                    <a:pt x="133101" y="182724"/>
                  </a:cubicBezTo>
                  <a:cubicBezTo>
                    <a:pt x="120644" y="188388"/>
                    <a:pt x="106713" y="191219"/>
                    <a:pt x="91310" y="191219"/>
                  </a:cubicBezTo>
                  <a:cubicBezTo>
                    <a:pt x="72735" y="191219"/>
                    <a:pt x="56199" y="187255"/>
                    <a:pt x="41703" y="179327"/>
                  </a:cubicBezTo>
                  <a:cubicBezTo>
                    <a:pt x="27205" y="171400"/>
                    <a:pt x="15878" y="160073"/>
                    <a:pt x="7725" y="145350"/>
                  </a:cubicBezTo>
                  <a:cubicBezTo>
                    <a:pt x="-430" y="130626"/>
                    <a:pt x="-4507" y="113410"/>
                    <a:pt x="-4507" y="93705"/>
                  </a:cubicBezTo>
                  <a:cubicBezTo>
                    <a:pt x="-4507" y="73997"/>
                    <a:pt x="-487" y="56781"/>
                    <a:pt x="7554" y="42057"/>
                  </a:cubicBezTo>
                  <a:cubicBezTo>
                    <a:pt x="15596" y="27334"/>
                    <a:pt x="26865" y="16009"/>
                    <a:pt x="41363" y="8080"/>
                  </a:cubicBezTo>
                  <a:cubicBezTo>
                    <a:pt x="55859" y="152"/>
                    <a:pt x="72507" y="-3812"/>
                    <a:pt x="91310" y="-3812"/>
                  </a:cubicBezTo>
                  <a:cubicBezTo>
                    <a:pt x="109657" y="-3812"/>
                    <a:pt x="125967" y="38"/>
                    <a:pt x="140237" y="7740"/>
                  </a:cubicBezTo>
                  <a:cubicBezTo>
                    <a:pt x="154508" y="15442"/>
                    <a:pt x="165663" y="26429"/>
                    <a:pt x="173705" y="40699"/>
                  </a:cubicBezTo>
                  <a:cubicBezTo>
                    <a:pt x="181746" y="54969"/>
                    <a:pt x="185768" y="71619"/>
                    <a:pt x="185768" y="90645"/>
                  </a:cubicBezTo>
                  <a:close/>
                  <a:moveTo>
                    <a:pt x="126307" y="75356"/>
                  </a:moveTo>
                  <a:cubicBezTo>
                    <a:pt x="126307" y="65388"/>
                    <a:pt x="122908" y="57461"/>
                    <a:pt x="116113" y="51572"/>
                  </a:cubicBezTo>
                  <a:cubicBezTo>
                    <a:pt x="109317" y="45683"/>
                    <a:pt x="100824" y="42737"/>
                    <a:pt x="90631" y="42737"/>
                  </a:cubicBezTo>
                  <a:cubicBezTo>
                    <a:pt x="80891" y="42737"/>
                    <a:pt x="72678" y="45569"/>
                    <a:pt x="65996" y="51232"/>
                  </a:cubicBezTo>
                  <a:cubicBezTo>
                    <a:pt x="59313" y="56895"/>
                    <a:pt x="55180" y="64937"/>
                    <a:pt x="53595" y="75356"/>
                  </a:cubicBezTo>
                  <a:lnTo>
                    <a:pt x="126307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89EBDF5-6971-B7F5-B5F1-0775BA50FB7A}"/>
                </a:ext>
              </a:extLst>
            </p:cNvPr>
            <p:cNvSpPr/>
            <p:nvPr/>
          </p:nvSpPr>
          <p:spPr>
            <a:xfrm>
              <a:off x="-811866" y="968459"/>
              <a:ext cx="190274" cy="195031"/>
            </a:xfrm>
            <a:custGeom>
              <a:avLst/>
              <a:gdLst>
                <a:gd name="connsiteX0" fmla="*/ 184949 w 190274"/>
                <a:gd name="connsiteY0" fmla="*/ 90645 h 195031"/>
                <a:gd name="connsiteX1" fmla="*/ 183929 w 190274"/>
                <a:gd name="connsiteY1" fmla="*/ 107635 h 195031"/>
                <a:gd name="connsiteX2" fmla="*/ 52437 w 190274"/>
                <a:gd name="connsiteY2" fmla="*/ 107635 h 195031"/>
                <a:gd name="connsiteX3" fmla="*/ 63818 w 190274"/>
                <a:gd name="connsiteY3" fmla="*/ 134648 h 195031"/>
                <a:gd name="connsiteX4" fmla="*/ 88453 w 190274"/>
                <a:gd name="connsiteY4" fmla="*/ 143991 h 195031"/>
                <a:gd name="connsiteX5" fmla="*/ 118691 w 190274"/>
                <a:gd name="connsiteY5" fmla="*/ 125642 h 195031"/>
                <a:gd name="connsiteX6" fmla="*/ 180533 w 190274"/>
                <a:gd name="connsiteY6" fmla="*/ 125642 h 195031"/>
                <a:gd name="connsiteX7" fmla="*/ 163374 w 190274"/>
                <a:gd name="connsiteY7" fmla="*/ 159280 h 195031"/>
                <a:gd name="connsiteX8" fmla="*/ 132285 w 190274"/>
                <a:gd name="connsiteY8" fmla="*/ 182724 h 195031"/>
                <a:gd name="connsiteX9" fmla="*/ 90491 w 190274"/>
                <a:gd name="connsiteY9" fmla="*/ 191219 h 195031"/>
                <a:gd name="connsiteX10" fmla="*/ 40884 w 190274"/>
                <a:gd name="connsiteY10" fmla="*/ 179327 h 195031"/>
                <a:gd name="connsiteX11" fmla="*/ 6906 w 190274"/>
                <a:gd name="connsiteY11" fmla="*/ 145350 h 195031"/>
                <a:gd name="connsiteX12" fmla="*/ -5326 w 190274"/>
                <a:gd name="connsiteY12" fmla="*/ 93705 h 195031"/>
                <a:gd name="connsiteX13" fmla="*/ 6735 w 190274"/>
                <a:gd name="connsiteY13" fmla="*/ 42057 h 195031"/>
                <a:gd name="connsiteX14" fmla="*/ 40544 w 190274"/>
                <a:gd name="connsiteY14" fmla="*/ 8080 h 195031"/>
                <a:gd name="connsiteX15" fmla="*/ 90491 w 190274"/>
                <a:gd name="connsiteY15" fmla="*/ -3812 h 195031"/>
                <a:gd name="connsiteX16" fmla="*/ 139418 w 190274"/>
                <a:gd name="connsiteY16" fmla="*/ 7740 h 195031"/>
                <a:gd name="connsiteX17" fmla="*/ 172885 w 190274"/>
                <a:gd name="connsiteY17" fmla="*/ 40699 h 195031"/>
                <a:gd name="connsiteX18" fmla="*/ 184949 w 190274"/>
                <a:gd name="connsiteY18" fmla="*/ 90645 h 195031"/>
                <a:gd name="connsiteX19" fmla="*/ 125488 w 190274"/>
                <a:gd name="connsiteY19" fmla="*/ 75356 h 195031"/>
                <a:gd name="connsiteX20" fmla="*/ 115294 w 190274"/>
                <a:gd name="connsiteY20" fmla="*/ 51572 h 195031"/>
                <a:gd name="connsiteX21" fmla="*/ 89811 w 190274"/>
                <a:gd name="connsiteY21" fmla="*/ 42737 h 195031"/>
                <a:gd name="connsiteX22" fmla="*/ 65177 w 190274"/>
                <a:gd name="connsiteY22" fmla="*/ 51232 h 195031"/>
                <a:gd name="connsiteX23" fmla="*/ 52776 w 190274"/>
                <a:gd name="connsiteY23" fmla="*/ 75356 h 195031"/>
                <a:gd name="connsiteX24" fmla="*/ 125488 w 190274"/>
                <a:gd name="connsiteY24" fmla="*/ 75356 h 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0274" h="195031">
                  <a:moveTo>
                    <a:pt x="184949" y="90645"/>
                  </a:moveTo>
                  <a:cubicBezTo>
                    <a:pt x="184949" y="96083"/>
                    <a:pt x="184609" y="101746"/>
                    <a:pt x="183929" y="107635"/>
                  </a:cubicBezTo>
                  <a:lnTo>
                    <a:pt x="52437" y="107635"/>
                  </a:lnTo>
                  <a:cubicBezTo>
                    <a:pt x="53342" y="119413"/>
                    <a:pt x="57135" y="128416"/>
                    <a:pt x="63818" y="134648"/>
                  </a:cubicBezTo>
                  <a:cubicBezTo>
                    <a:pt x="70500" y="140876"/>
                    <a:pt x="78713" y="143991"/>
                    <a:pt x="88453" y="143991"/>
                  </a:cubicBezTo>
                  <a:cubicBezTo>
                    <a:pt x="102948" y="143991"/>
                    <a:pt x="113030" y="137874"/>
                    <a:pt x="118691" y="125642"/>
                  </a:cubicBezTo>
                  <a:lnTo>
                    <a:pt x="180533" y="125642"/>
                  </a:lnTo>
                  <a:cubicBezTo>
                    <a:pt x="177361" y="138102"/>
                    <a:pt x="171641" y="149314"/>
                    <a:pt x="163374" y="159280"/>
                  </a:cubicBezTo>
                  <a:cubicBezTo>
                    <a:pt x="155104" y="169248"/>
                    <a:pt x="144742" y="177061"/>
                    <a:pt x="132285" y="182724"/>
                  </a:cubicBezTo>
                  <a:cubicBezTo>
                    <a:pt x="119825" y="188388"/>
                    <a:pt x="105894" y="191219"/>
                    <a:pt x="90491" y="191219"/>
                  </a:cubicBezTo>
                  <a:cubicBezTo>
                    <a:pt x="71916" y="191219"/>
                    <a:pt x="55380" y="187255"/>
                    <a:pt x="40884" y="179327"/>
                  </a:cubicBezTo>
                  <a:cubicBezTo>
                    <a:pt x="26386" y="171400"/>
                    <a:pt x="15062" y="160073"/>
                    <a:pt x="6906" y="145350"/>
                  </a:cubicBezTo>
                  <a:cubicBezTo>
                    <a:pt x="-1249" y="130626"/>
                    <a:pt x="-5326" y="113410"/>
                    <a:pt x="-5326" y="93705"/>
                  </a:cubicBezTo>
                  <a:cubicBezTo>
                    <a:pt x="-5326" y="73997"/>
                    <a:pt x="-1306" y="56781"/>
                    <a:pt x="6735" y="42057"/>
                  </a:cubicBezTo>
                  <a:cubicBezTo>
                    <a:pt x="14776" y="27334"/>
                    <a:pt x="26046" y="16009"/>
                    <a:pt x="40544" y="8080"/>
                  </a:cubicBezTo>
                  <a:cubicBezTo>
                    <a:pt x="55040" y="152"/>
                    <a:pt x="71691" y="-3812"/>
                    <a:pt x="90491" y="-3812"/>
                  </a:cubicBezTo>
                  <a:cubicBezTo>
                    <a:pt x="108840" y="-3812"/>
                    <a:pt x="125148" y="38"/>
                    <a:pt x="139418" y="7740"/>
                  </a:cubicBezTo>
                  <a:cubicBezTo>
                    <a:pt x="153688" y="15442"/>
                    <a:pt x="164847" y="26429"/>
                    <a:pt x="172885" y="40699"/>
                  </a:cubicBezTo>
                  <a:cubicBezTo>
                    <a:pt x="180929" y="54969"/>
                    <a:pt x="184949" y="71619"/>
                    <a:pt x="184949" y="90645"/>
                  </a:cubicBezTo>
                  <a:close/>
                  <a:moveTo>
                    <a:pt x="125488" y="75356"/>
                  </a:moveTo>
                  <a:cubicBezTo>
                    <a:pt x="125488" y="65388"/>
                    <a:pt x="122091" y="57461"/>
                    <a:pt x="115294" y="51572"/>
                  </a:cubicBezTo>
                  <a:cubicBezTo>
                    <a:pt x="108498" y="45683"/>
                    <a:pt x="100005" y="42737"/>
                    <a:pt x="89811" y="42737"/>
                  </a:cubicBezTo>
                  <a:cubicBezTo>
                    <a:pt x="80072" y="42737"/>
                    <a:pt x="71859" y="45569"/>
                    <a:pt x="65177" y="51232"/>
                  </a:cubicBezTo>
                  <a:cubicBezTo>
                    <a:pt x="58494" y="56895"/>
                    <a:pt x="54361" y="64937"/>
                    <a:pt x="52776" y="75356"/>
                  </a:cubicBezTo>
                  <a:lnTo>
                    <a:pt x="125488" y="75356"/>
                  </a:ln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F40713D-9E85-58D9-6CD3-A9892247A41C}"/>
                </a:ext>
              </a:extLst>
            </p:cNvPr>
            <p:cNvSpPr/>
            <p:nvPr/>
          </p:nvSpPr>
          <p:spPr>
            <a:xfrm>
              <a:off x="-557402" y="969138"/>
              <a:ext cx="188575" cy="191634"/>
            </a:xfrm>
            <a:custGeom>
              <a:avLst/>
              <a:gdLst>
                <a:gd name="connsiteX0" fmla="*/ 109342 w 188575"/>
                <a:gd name="connsiteY0" fmla="*/ -3809 h 191634"/>
                <a:gd name="connsiteX1" fmla="*/ 162517 w 188575"/>
                <a:gd name="connsiteY1" fmla="*/ 17769 h 191634"/>
                <a:gd name="connsiteX2" fmla="*/ 182393 w 188575"/>
                <a:gd name="connsiteY2" fmla="*/ 77058 h 191634"/>
                <a:gd name="connsiteX3" fmla="*/ 182393 w 188575"/>
                <a:gd name="connsiteY3" fmla="*/ 187826 h 191634"/>
                <a:gd name="connsiteX4" fmla="*/ 124631 w 188575"/>
                <a:gd name="connsiteY4" fmla="*/ 187826 h 191634"/>
                <a:gd name="connsiteX5" fmla="*/ 124631 w 188575"/>
                <a:gd name="connsiteY5" fmla="*/ 84874 h 191634"/>
                <a:gd name="connsiteX6" fmla="*/ 114777 w 188575"/>
                <a:gd name="connsiteY6" fmla="*/ 55312 h 191634"/>
                <a:gd name="connsiteX7" fmla="*/ 88275 w 188575"/>
                <a:gd name="connsiteY7" fmla="*/ 44781 h 191634"/>
                <a:gd name="connsiteX8" fmla="*/ 61773 w 188575"/>
                <a:gd name="connsiteY8" fmla="*/ 55312 h 191634"/>
                <a:gd name="connsiteX9" fmla="*/ 51919 w 188575"/>
                <a:gd name="connsiteY9" fmla="*/ 84874 h 191634"/>
                <a:gd name="connsiteX10" fmla="*/ 51919 w 188575"/>
                <a:gd name="connsiteY10" fmla="*/ 187826 h 191634"/>
                <a:gd name="connsiteX11" fmla="*/ -6183 w 188575"/>
                <a:gd name="connsiteY11" fmla="*/ 187826 h 191634"/>
                <a:gd name="connsiteX12" fmla="*/ -6183 w 188575"/>
                <a:gd name="connsiteY12" fmla="*/ -1768 h 191634"/>
                <a:gd name="connsiteX13" fmla="*/ 51919 w 188575"/>
                <a:gd name="connsiteY13" fmla="*/ -1768 h 191634"/>
                <a:gd name="connsiteX14" fmla="*/ 51919 w 188575"/>
                <a:gd name="connsiteY14" fmla="*/ 23375 h 191634"/>
                <a:gd name="connsiteX15" fmla="*/ 75704 w 188575"/>
                <a:gd name="connsiteY15" fmla="*/ 3496 h 191634"/>
                <a:gd name="connsiteX16" fmla="*/ 109342 w 188575"/>
                <a:gd name="connsiteY16" fmla="*/ -3809 h 19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575" h="191634">
                  <a:moveTo>
                    <a:pt x="109342" y="-3809"/>
                  </a:moveTo>
                  <a:cubicBezTo>
                    <a:pt x="131539" y="-3809"/>
                    <a:pt x="149266" y="3384"/>
                    <a:pt x="162517" y="17769"/>
                  </a:cubicBezTo>
                  <a:cubicBezTo>
                    <a:pt x="175768" y="32153"/>
                    <a:pt x="182393" y="51915"/>
                    <a:pt x="182393" y="77058"/>
                  </a:cubicBezTo>
                  <a:lnTo>
                    <a:pt x="182393" y="187826"/>
                  </a:lnTo>
                  <a:lnTo>
                    <a:pt x="124631" y="187826"/>
                  </a:lnTo>
                  <a:lnTo>
                    <a:pt x="124631" y="84874"/>
                  </a:lnTo>
                  <a:cubicBezTo>
                    <a:pt x="124631" y="72188"/>
                    <a:pt x="121346" y="62334"/>
                    <a:pt x="114777" y="55312"/>
                  </a:cubicBezTo>
                  <a:cubicBezTo>
                    <a:pt x="108209" y="48290"/>
                    <a:pt x="99374" y="44781"/>
                    <a:pt x="88275" y="44781"/>
                  </a:cubicBezTo>
                  <a:cubicBezTo>
                    <a:pt x="77177" y="44781"/>
                    <a:pt x="68342" y="48290"/>
                    <a:pt x="61773" y="55312"/>
                  </a:cubicBezTo>
                  <a:cubicBezTo>
                    <a:pt x="55205" y="62334"/>
                    <a:pt x="51919" y="72188"/>
                    <a:pt x="51919" y="84874"/>
                  </a:cubicBezTo>
                  <a:lnTo>
                    <a:pt x="51919" y="187826"/>
                  </a:lnTo>
                  <a:lnTo>
                    <a:pt x="-6183" y="187826"/>
                  </a:lnTo>
                  <a:lnTo>
                    <a:pt x="-6183" y="-1768"/>
                  </a:lnTo>
                  <a:lnTo>
                    <a:pt x="51919" y="-1768"/>
                  </a:lnTo>
                  <a:lnTo>
                    <a:pt x="51919" y="23375"/>
                  </a:lnTo>
                  <a:cubicBezTo>
                    <a:pt x="57809" y="14994"/>
                    <a:pt x="65738" y="8368"/>
                    <a:pt x="75704" y="3496"/>
                  </a:cubicBezTo>
                  <a:cubicBezTo>
                    <a:pt x="85672" y="-1374"/>
                    <a:pt x="96882" y="-3809"/>
                    <a:pt x="109342" y="-3809"/>
                  </a:cubicBezTo>
                  <a:close/>
                </a:path>
              </a:pathLst>
            </a:custGeom>
            <a:solidFill>
              <a:schemeClr val="bg1"/>
            </a:solidFill>
            <a:ln w="24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449B3C-3AF3-4A76-A4BB-28450906D963}"/>
                </a:ext>
              </a:extLst>
            </p:cNvPr>
            <p:cNvSpPr/>
            <p:nvPr/>
          </p:nvSpPr>
          <p:spPr>
            <a:xfrm>
              <a:off x="-1779782" y="1215889"/>
              <a:ext cx="113261" cy="152576"/>
            </a:xfrm>
            <a:custGeom>
              <a:avLst/>
              <a:gdLst>
                <a:gd name="connsiteX0" fmla="*/ -1260 w 113261"/>
                <a:gd name="connsiteY0" fmla="*/ 90952 h 152576"/>
                <a:gd name="connsiteX1" fmla="*/ 5666 w 113261"/>
                <a:gd name="connsiteY1" fmla="*/ 60905 h 152576"/>
                <a:gd name="connsiteX2" fmla="*/ 24713 w 113261"/>
                <a:gd name="connsiteY2" fmla="*/ 40840 h 152576"/>
                <a:gd name="connsiteX3" fmla="*/ 51909 w 113261"/>
                <a:gd name="connsiteY3" fmla="*/ 33711 h 152576"/>
                <a:gd name="connsiteX4" fmla="*/ 76149 w 113261"/>
                <a:gd name="connsiteY4" fmla="*/ 39719 h 152576"/>
                <a:gd name="connsiteX5" fmla="*/ 93260 w 113261"/>
                <a:gd name="connsiteY5" fmla="*/ 55507 h 152576"/>
                <a:gd name="connsiteX6" fmla="*/ 93260 w 113261"/>
                <a:gd name="connsiteY6" fmla="*/ -3569 h 152576"/>
                <a:gd name="connsiteX7" fmla="*/ 112002 w 113261"/>
                <a:gd name="connsiteY7" fmla="*/ -3569 h 152576"/>
                <a:gd name="connsiteX8" fmla="*/ 112002 w 113261"/>
                <a:gd name="connsiteY8" fmla="*/ 147175 h 152576"/>
                <a:gd name="connsiteX9" fmla="*/ 93260 w 113261"/>
                <a:gd name="connsiteY9" fmla="*/ 147175 h 152576"/>
                <a:gd name="connsiteX10" fmla="*/ 93260 w 113261"/>
                <a:gd name="connsiteY10" fmla="*/ 126193 h 152576"/>
                <a:gd name="connsiteX11" fmla="*/ 76964 w 113261"/>
                <a:gd name="connsiteY11" fmla="*/ 142592 h 152576"/>
                <a:gd name="connsiteX12" fmla="*/ 51705 w 113261"/>
                <a:gd name="connsiteY12" fmla="*/ 149008 h 152576"/>
                <a:gd name="connsiteX13" fmla="*/ 24713 w 113261"/>
                <a:gd name="connsiteY13" fmla="*/ 141675 h 152576"/>
                <a:gd name="connsiteX14" fmla="*/ 5666 w 113261"/>
                <a:gd name="connsiteY14" fmla="*/ 121100 h 152576"/>
                <a:gd name="connsiteX15" fmla="*/ -1260 w 113261"/>
                <a:gd name="connsiteY15" fmla="*/ 90952 h 152576"/>
                <a:gd name="connsiteX16" fmla="*/ 93260 w 113261"/>
                <a:gd name="connsiteY16" fmla="*/ 91156 h 152576"/>
                <a:gd name="connsiteX17" fmla="*/ 88169 w 113261"/>
                <a:gd name="connsiteY17" fmla="*/ 69155 h 152576"/>
                <a:gd name="connsiteX18" fmla="*/ 74417 w 113261"/>
                <a:gd name="connsiteY18" fmla="*/ 54793 h 152576"/>
                <a:gd name="connsiteX19" fmla="*/ 55371 w 113261"/>
                <a:gd name="connsiteY19" fmla="*/ 49803 h 152576"/>
                <a:gd name="connsiteX20" fmla="*/ 36426 w 113261"/>
                <a:gd name="connsiteY20" fmla="*/ 54692 h 152576"/>
                <a:gd name="connsiteX21" fmla="*/ 22777 w 113261"/>
                <a:gd name="connsiteY21" fmla="*/ 68952 h 152576"/>
                <a:gd name="connsiteX22" fmla="*/ 17686 w 113261"/>
                <a:gd name="connsiteY22" fmla="*/ 90952 h 152576"/>
                <a:gd name="connsiteX23" fmla="*/ 22777 w 113261"/>
                <a:gd name="connsiteY23" fmla="*/ 113257 h 152576"/>
                <a:gd name="connsiteX24" fmla="*/ 36426 w 113261"/>
                <a:gd name="connsiteY24" fmla="*/ 127720 h 152576"/>
                <a:gd name="connsiteX25" fmla="*/ 55371 w 113261"/>
                <a:gd name="connsiteY25" fmla="*/ 132712 h 152576"/>
                <a:gd name="connsiteX26" fmla="*/ 74417 w 113261"/>
                <a:gd name="connsiteY26" fmla="*/ 127720 h 152576"/>
                <a:gd name="connsiteX27" fmla="*/ 88169 w 113261"/>
                <a:gd name="connsiteY27" fmla="*/ 113257 h 152576"/>
                <a:gd name="connsiteX28" fmla="*/ 93260 w 113261"/>
                <a:gd name="connsiteY28" fmla="*/ 91156 h 152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3261" h="152576">
                  <a:moveTo>
                    <a:pt x="-1260" y="90952"/>
                  </a:moveTo>
                  <a:cubicBezTo>
                    <a:pt x="-1260" y="79544"/>
                    <a:pt x="1049" y="69529"/>
                    <a:pt x="5666" y="60905"/>
                  </a:cubicBezTo>
                  <a:cubicBezTo>
                    <a:pt x="10284" y="52281"/>
                    <a:pt x="16633" y="45593"/>
                    <a:pt x="24713" y="40840"/>
                  </a:cubicBezTo>
                  <a:cubicBezTo>
                    <a:pt x="32794" y="36086"/>
                    <a:pt x="41859" y="33711"/>
                    <a:pt x="51909" y="33711"/>
                  </a:cubicBezTo>
                  <a:cubicBezTo>
                    <a:pt x="60599" y="33711"/>
                    <a:pt x="68681" y="35713"/>
                    <a:pt x="76149" y="39719"/>
                  </a:cubicBezTo>
                  <a:cubicBezTo>
                    <a:pt x="83618" y="43726"/>
                    <a:pt x="89322" y="48988"/>
                    <a:pt x="93260" y="55507"/>
                  </a:cubicBezTo>
                  <a:lnTo>
                    <a:pt x="93260" y="-3569"/>
                  </a:lnTo>
                  <a:lnTo>
                    <a:pt x="112002" y="-3569"/>
                  </a:lnTo>
                  <a:lnTo>
                    <a:pt x="112002" y="147175"/>
                  </a:lnTo>
                  <a:lnTo>
                    <a:pt x="93260" y="147175"/>
                  </a:lnTo>
                  <a:lnTo>
                    <a:pt x="93260" y="126193"/>
                  </a:lnTo>
                  <a:cubicBezTo>
                    <a:pt x="89594" y="132847"/>
                    <a:pt x="84162" y="138313"/>
                    <a:pt x="76964" y="142592"/>
                  </a:cubicBezTo>
                  <a:cubicBezTo>
                    <a:pt x="69767" y="146869"/>
                    <a:pt x="61347" y="149008"/>
                    <a:pt x="51705" y="149008"/>
                  </a:cubicBezTo>
                  <a:cubicBezTo>
                    <a:pt x="41791" y="149008"/>
                    <a:pt x="32794" y="146564"/>
                    <a:pt x="24713" y="141675"/>
                  </a:cubicBezTo>
                  <a:cubicBezTo>
                    <a:pt x="16633" y="136785"/>
                    <a:pt x="10284" y="129928"/>
                    <a:pt x="5666" y="121100"/>
                  </a:cubicBezTo>
                  <a:cubicBezTo>
                    <a:pt x="1049" y="112273"/>
                    <a:pt x="-1260" y="102223"/>
                    <a:pt x="-1260" y="90952"/>
                  </a:cubicBezTo>
                  <a:close/>
                  <a:moveTo>
                    <a:pt x="93260" y="91156"/>
                  </a:moveTo>
                  <a:cubicBezTo>
                    <a:pt x="93260" y="82736"/>
                    <a:pt x="91564" y="75402"/>
                    <a:pt x="88169" y="69155"/>
                  </a:cubicBezTo>
                  <a:cubicBezTo>
                    <a:pt x="84773" y="62907"/>
                    <a:pt x="80190" y="58120"/>
                    <a:pt x="74417" y="54793"/>
                  </a:cubicBezTo>
                  <a:cubicBezTo>
                    <a:pt x="68646" y="51466"/>
                    <a:pt x="62297" y="49803"/>
                    <a:pt x="55371" y="49803"/>
                  </a:cubicBezTo>
                  <a:cubicBezTo>
                    <a:pt x="48445" y="49803"/>
                    <a:pt x="42130" y="51432"/>
                    <a:pt x="36426" y="54692"/>
                  </a:cubicBezTo>
                  <a:cubicBezTo>
                    <a:pt x="30723" y="57951"/>
                    <a:pt x="26173" y="62704"/>
                    <a:pt x="22777" y="68952"/>
                  </a:cubicBezTo>
                  <a:cubicBezTo>
                    <a:pt x="19383" y="75198"/>
                    <a:pt x="17686" y="82532"/>
                    <a:pt x="17686" y="90952"/>
                  </a:cubicBezTo>
                  <a:cubicBezTo>
                    <a:pt x="17686" y="99507"/>
                    <a:pt x="19383" y="106943"/>
                    <a:pt x="22777" y="113257"/>
                  </a:cubicBezTo>
                  <a:cubicBezTo>
                    <a:pt x="26173" y="119572"/>
                    <a:pt x="30723" y="124393"/>
                    <a:pt x="36426" y="127720"/>
                  </a:cubicBezTo>
                  <a:cubicBezTo>
                    <a:pt x="42130" y="131048"/>
                    <a:pt x="48445" y="132712"/>
                    <a:pt x="55371" y="132712"/>
                  </a:cubicBezTo>
                  <a:cubicBezTo>
                    <a:pt x="62297" y="132712"/>
                    <a:pt x="68646" y="131048"/>
                    <a:pt x="74417" y="127720"/>
                  </a:cubicBezTo>
                  <a:cubicBezTo>
                    <a:pt x="80190" y="124393"/>
                    <a:pt x="84773" y="119572"/>
                    <a:pt x="88169" y="113257"/>
                  </a:cubicBezTo>
                  <a:cubicBezTo>
                    <a:pt x="91564" y="106943"/>
                    <a:pt x="93260" y="99576"/>
                    <a:pt x="93260" y="91156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3C7370-9610-23B3-F00D-91CED73A7904}"/>
                </a:ext>
              </a:extLst>
            </p:cNvPr>
            <p:cNvSpPr/>
            <p:nvPr/>
          </p:nvSpPr>
          <p:spPr>
            <a:xfrm>
              <a:off x="-1419642" y="1211612"/>
              <a:ext cx="24851" cy="155020"/>
            </a:xfrm>
            <a:custGeom>
              <a:avLst/>
              <a:gdLst>
                <a:gd name="connsiteX0" fmla="*/ 9640 w 24851"/>
                <a:gd name="connsiteY0" fmla="*/ 21709 h 155020"/>
                <a:gd name="connsiteX1" fmla="*/ 677 w 24851"/>
                <a:gd name="connsiteY1" fmla="*/ 18043 h 155020"/>
                <a:gd name="connsiteX2" fmla="*/ -2988 w 24851"/>
                <a:gd name="connsiteY2" fmla="*/ 9079 h 155020"/>
                <a:gd name="connsiteX3" fmla="*/ 677 w 24851"/>
                <a:gd name="connsiteY3" fmla="*/ 116 h 155020"/>
                <a:gd name="connsiteX4" fmla="*/ 9640 w 24851"/>
                <a:gd name="connsiteY4" fmla="*/ -3550 h 155020"/>
                <a:gd name="connsiteX5" fmla="*/ 18298 w 24851"/>
                <a:gd name="connsiteY5" fmla="*/ 116 h 155020"/>
                <a:gd name="connsiteX6" fmla="*/ 21863 w 24851"/>
                <a:gd name="connsiteY6" fmla="*/ 9079 h 155020"/>
                <a:gd name="connsiteX7" fmla="*/ 18298 w 24851"/>
                <a:gd name="connsiteY7" fmla="*/ 18043 h 155020"/>
                <a:gd name="connsiteX8" fmla="*/ 9640 w 24851"/>
                <a:gd name="connsiteY8" fmla="*/ 21709 h 155020"/>
                <a:gd name="connsiteX9" fmla="*/ 18604 w 24851"/>
                <a:gd name="connsiteY9" fmla="*/ 39839 h 155020"/>
                <a:gd name="connsiteX10" fmla="*/ 18604 w 24851"/>
                <a:gd name="connsiteY10" fmla="*/ 151471 h 155020"/>
                <a:gd name="connsiteX11" fmla="*/ 66 w 24851"/>
                <a:gd name="connsiteY11" fmla="*/ 151471 h 155020"/>
                <a:gd name="connsiteX12" fmla="*/ 66 w 24851"/>
                <a:gd name="connsiteY12" fmla="*/ 39839 h 155020"/>
                <a:gd name="connsiteX13" fmla="*/ 18604 w 24851"/>
                <a:gd name="connsiteY13" fmla="*/ 39839 h 155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51" h="155020">
                  <a:moveTo>
                    <a:pt x="9640" y="21709"/>
                  </a:moveTo>
                  <a:cubicBezTo>
                    <a:pt x="6110" y="21709"/>
                    <a:pt x="3123" y="20487"/>
                    <a:pt x="677" y="18043"/>
                  </a:cubicBezTo>
                  <a:cubicBezTo>
                    <a:pt x="-1766" y="15597"/>
                    <a:pt x="-2988" y="12611"/>
                    <a:pt x="-2988" y="9079"/>
                  </a:cubicBezTo>
                  <a:cubicBezTo>
                    <a:pt x="-2988" y="5548"/>
                    <a:pt x="-1766" y="2561"/>
                    <a:pt x="677" y="116"/>
                  </a:cubicBezTo>
                  <a:cubicBezTo>
                    <a:pt x="3123" y="-2328"/>
                    <a:pt x="6110" y="-3550"/>
                    <a:pt x="9640" y="-3550"/>
                  </a:cubicBezTo>
                  <a:cubicBezTo>
                    <a:pt x="13036" y="-3550"/>
                    <a:pt x="15923" y="-2328"/>
                    <a:pt x="18298" y="116"/>
                  </a:cubicBezTo>
                  <a:cubicBezTo>
                    <a:pt x="20675" y="2561"/>
                    <a:pt x="21863" y="5548"/>
                    <a:pt x="21863" y="9079"/>
                  </a:cubicBezTo>
                  <a:cubicBezTo>
                    <a:pt x="21863" y="12611"/>
                    <a:pt x="20675" y="15597"/>
                    <a:pt x="18298" y="18043"/>
                  </a:cubicBezTo>
                  <a:cubicBezTo>
                    <a:pt x="15923" y="20487"/>
                    <a:pt x="13036" y="21709"/>
                    <a:pt x="9640" y="21709"/>
                  </a:cubicBezTo>
                  <a:close/>
                  <a:moveTo>
                    <a:pt x="18604" y="39839"/>
                  </a:moveTo>
                  <a:lnTo>
                    <a:pt x="18604" y="151471"/>
                  </a:lnTo>
                  <a:lnTo>
                    <a:pt x="66" y="151471"/>
                  </a:lnTo>
                  <a:lnTo>
                    <a:pt x="66" y="39839"/>
                  </a:lnTo>
                  <a:lnTo>
                    <a:pt x="18604" y="39839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6EC0D58-9889-075B-3218-A7D0F2CB3E81}"/>
                </a:ext>
              </a:extLst>
            </p:cNvPr>
            <p:cNvSpPr/>
            <p:nvPr/>
          </p:nvSpPr>
          <p:spPr>
            <a:xfrm>
              <a:off x="-1323560" y="1253169"/>
              <a:ext cx="86373" cy="115297"/>
            </a:xfrm>
            <a:custGeom>
              <a:avLst/>
              <a:gdLst>
                <a:gd name="connsiteX0" fmla="*/ 41950 w 86373"/>
                <a:gd name="connsiteY0" fmla="*/ 111614 h 115297"/>
                <a:gd name="connsiteX1" fmla="*/ 18931 w 86373"/>
                <a:gd name="connsiteY1" fmla="*/ 107234 h 115297"/>
                <a:gd name="connsiteX2" fmla="*/ 2837 w 86373"/>
                <a:gd name="connsiteY2" fmla="*/ 95011 h 115297"/>
                <a:gd name="connsiteX3" fmla="*/ -3682 w 86373"/>
                <a:gd name="connsiteY3" fmla="*/ 76983 h 115297"/>
                <a:gd name="connsiteX4" fmla="*/ 15467 w 86373"/>
                <a:gd name="connsiteY4" fmla="*/ 76983 h 115297"/>
                <a:gd name="connsiteX5" fmla="*/ 23311 w 86373"/>
                <a:gd name="connsiteY5" fmla="*/ 90632 h 115297"/>
                <a:gd name="connsiteX6" fmla="*/ 41746 w 86373"/>
                <a:gd name="connsiteY6" fmla="*/ 95928 h 115297"/>
                <a:gd name="connsiteX7" fmla="*/ 58449 w 86373"/>
                <a:gd name="connsiteY7" fmla="*/ 91243 h 115297"/>
                <a:gd name="connsiteX8" fmla="*/ 64561 w 86373"/>
                <a:gd name="connsiteY8" fmla="*/ 79427 h 115297"/>
                <a:gd name="connsiteX9" fmla="*/ 58042 w 86373"/>
                <a:gd name="connsiteY9" fmla="*/ 68529 h 115297"/>
                <a:gd name="connsiteX10" fmla="*/ 37875 w 86373"/>
                <a:gd name="connsiteY10" fmla="*/ 61502 h 115297"/>
                <a:gd name="connsiteX11" fmla="*/ 17607 w 86373"/>
                <a:gd name="connsiteY11" fmla="*/ 54881 h 115297"/>
                <a:gd name="connsiteX12" fmla="*/ 4162 w 86373"/>
                <a:gd name="connsiteY12" fmla="*/ 44900 h 115297"/>
                <a:gd name="connsiteX13" fmla="*/ -1440 w 86373"/>
                <a:gd name="connsiteY13" fmla="*/ 27483 h 115297"/>
                <a:gd name="connsiteX14" fmla="*/ 3652 w 86373"/>
                <a:gd name="connsiteY14" fmla="*/ 11797 h 115297"/>
                <a:gd name="connsiteX15" fmla="*/ 18116 w 86373"/>
                <a:gd name="connsiteY15" fmla="*/ 492 h 115297"/>
                <a:gd name="connsiteX16" fmla="*/ 39506 w 86373"/>
                <a:gd name="connsiteY16" fmla="*/ -3684 h 115297"/>
                <a:gd name="connsiteX17" fmla="*/ 69450 w 86373"/>
                <a:gd name="connsiteY17" fmla="*/ 5686 h 115297"/>
                <a:gd name="connsiteX18" fmla="*/ 81672 w 86373"/>
                <a:gd name="connsiteY18" fmla="*/ 31354 h 115297"/>
                <a:gd name="connsiteX19" fmla="*/ 63135 w 86373"/>
                <a:gd name="connsiteY19" fmla="*/ 31354 h 115297"/>
                <a:gd name="connsiteX20" fmla="*/ 56107 w 86373"/>
                <a:gd name="connsiteY20" fmla="*/ 17298 h 115297"/>
                <a:gd name="connsiteX21" fmla="*/ 38893 w 86373"/>
                <a:gd name="connsiteY21" fmla="*/ 12001 h 115297"/>
                <a:gd name="connsiteX22" fmla="*/ 23004 w 86373"/>
                <a:gd name="connsiteY22" fmla="*/ 16278 h 115297"/>
                <a:gd name="connsiteX23" fmla="*/ 17097 w 86373"/>
                <a:gd name="connsiteY23" fmla="*/ 27483 h 115297"/>
                <a:gd name="connsiteX24" fmla="*/ 20661 w 86373"/>
                <a:gd name="connsiteY24" fmla="*/ 36548 h 115297"/>
                <a:gd name="connsiteX25" fmla="*/ 29626 w 86373"/>
                <a:gd name="connsiteY25" fmla="*/ 42252 h 115297"/>
                <a:gd name="connsiteX26" fmla="*/ 44597 w 86373"/>
                <a:gd name="connsiteY26" fmla="*/ 47039 h 115297"/>
                <a:gd name="connsiteX27" fmla="*/ 64154 w 86373"/>
                <a:gd name="connsiteY27" fmla="*/ 53455 h 115297"/>
                <a:gd name="connsiteX28" fmla="*/ 77089 w 86373"/>
                <a:gd name="connsiteY28" fmla="*/ 62927 h 115297"/>
                <a:gd name="connsiteX29" fmla="*/ 82692 w 86373"/>
                <a:gd name="connsiteY29" fmla="*/ 79427 h 115297"/>
                <a:gd name="connsiteX30" fmla="*/ 77598 w 86373"/>
                <a:gd name="connsiteY30" fmla="*/ 95928 h 115297"/>
                <a:gd name="connsiteX31" fmla="*/ 63236 w 86373"/>
                <a:gd name="connsiteY31" fmla="*/ 107438 h 115297"/>
                <a:gd name="connsiteX32" fmla="*/ 41950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41950" y="111614"/>
                  </a:moveTo>
                  <a:cubicBezTo>
                    <a:pt x="33394" y="111614"/>
                    <a:pt x="25720" y="110154"/>
                    <a:pt x="18931" y="107234"/>
                  </a:cubicBezTo>
                  <a:cubicBezTo>
                    <a:pt x="12140" y="104314"/>
                    <a:pt x="6775" y="100240"/>
                    <a:pt x="2837" y="95011"/>
                  </a:cubicBezTo>
                  <a:cubicBezTo>
                    <a:pt x="-1101" y="89783"/>
                    <a:pt x="-3274" y="83774"/>
                    <a:pt x="-3682" y="76983"/>
                  </a:cubicBezTo>
                  <a:lnTo>
                    <a:pt x="15467" y="76983"/>
                  </a:lnTo>
                  <a:cubicBezTo>
                    <a:pt x="16011" y="82552"/>
                    <a:pt x="18625" y="87101"/>
                    <a:pt x="23311" y="90632"/>
                  </a:cubicBezTo>
                  <a:cubicBezTo>
                    <a:pt x="27995" y="94162"/>
                    <a:pt x="34140" y="95928"/>
                    <a:pt x="41746" y="95928"/>
                  </a:cubicBezTo>
                  <a:cubicBezTo>
                    <a:pt x="48807" y="95928"/>
                    <a:pt x="54376" y="94366"/>
                    <a:pt x="58449" y="91243"/>
                  </a:cubicBezTo>
                  <a:cubicBezTo>
                    <a:pt x="62524" y="88119"/>
                    <a:pt x="64561" y="84181"/>
                    <a:pt x="64561" y="79427"/>
                  </a:cubicBezTo>
                  <a:cubicBezTo>
                    <a:pt x="64561" y="74539"/>
                    <a:pt x="62389" y="70906"/>
                    <a:pt x="58042" y="68529"/>
                  </a:cubicBezTo>
                  <a:cubicBezTo>
                    <a:pt x="53697" y="66153"/>
                    <a:pt x="46974" y="63811"/>
                    <a:pt x="37875" y="61502"/>
                  </a:cubicBezTo>
                  <a:cubicBezTo>
                    <a:pt x="29592" y="59328"/>
                    <a:pt x="22835" y="57122"/>
                    <a:pt x="17607" y="54881"/>
                  </a:cubicBezTo>
                  <a:cubicBezTo>
                    <a:pt x="12378" y="52640"/>
                    <a:pt x="7896" y="49313"/>
                    <a:pt x="4162" y="44900"/>
                  </a:cubicBezTo>
                  <a:cubicBezTo>
                    <a:pt x="427" y="40486"/>
                    <a:pt x="-1440" y="34681"/>
                    <a:pt x="-1440" y="27483"/>
                  </a:cubicBezTo>
                  <a:cubicBezTo>
                    <a:pt x="-1440" y="21778"/>
                    <a:pt x="258" y="16550"/>
                    <a:pt x="3652" y="11797"/>
                  </a:cubicBezTo>
                  <a:cubicBezTo>
                    <a:pt x="7047" y="7043"/>
                    <a:pt x="11868" y="3275"/>
                    <a:pt x="18116" y="492"/>
                  </a:cubicBezTo>
                  <a:cubicBezTo>
                    <a:pt x="24363" y="-2293"/>
                    <a:pt x="31493" y="-3684"/>
                    <a:pt x="39506" y="-3684"/>
                  </a:cubicBezTo>
                  <a:cubicBezTo>
                    <a:pt x="51864" y="-3684"/>
                    <a:pt x="61845" y="-561"/>
                    <a:pt x="69450" y="5686"/>
                  </a:cubicBezTo>
                  <a:cubicBezTo>
                    <a:pt x="77056" y="11933"/>
                    <a:pt x="81129" y="20488"/>
                    <a:pt x="81672" y="31354"/>
                  </a:cubicBezTo>
                  <a:lnTo>
                    <a:pt x="63135" y="31354"/>
                  </a:lnTo>
                  <a:cubicBezTo>
                    <a:pt x="62728" y="25513"/>
                    <a:pt x="60385" y="20829"/>
                    <a:pt x="56107" y="17298"/>
                  </a:cubicBezTo>
                  <a:cubicBezTo>
                    <a:pt x="51830" y="13766"/>
                    <a:pt x="46091" y="12001"/>
                    <a:pt x="38893" y="12001"/>
                  </a:cubicBezTo>
                  <a:cubicBezTo>
                    <a:pt x="32239" y="12001"/>
                    <a:pt x="26942" y="13427"/>
                    <a:pt x="23004" y="16278"/>
                  </a:cubicBezTo>
                  <a:cubicBezTo>
                    <a:pt x="19066" y="19131"/>
                    <a:pt x="17097" y="22865"/>
                    <a:pt x="17097" y="27483"/>
                  </a:cubicBezTo>
                  <a:cubicBezTo>
                    <a:pt x="17097" y="31150"/>
                    <a:pt x="18286" y="34171"/>
                    <a:pt x="20661" y="36548"/>
                  </a:cubicBezTo>
                  <a:cubicBezTo>
                    <a:pt x="23039" y="38923"/>
                    <a:pt x="26027" y="40825"/>
                    <a:pt x="29626" y="42252"/>
                  </a:cubicBezTo>
                  <a:cubicBezTo>
                    <a:pt x="33225" y="43678"/>
                    <a:pt x="38215" y="45273"/>
                    <a:pt x="44597" y="47039"/>
                  </a:cubicBezTo>
                  <a:cubicBezTo>
                    <a:pt x="52610" y="49211"/>
                    <a:pt x="59129" y="51350"/>
                    <a:pt x="64154" y="53455"/>
                  </a:cubicBezTo>
                  <a:cubicBezTo>
                    <a:pt x="69178" y="55560"/>
                    <a:pt x="73489" y="58717"/>
                    <a:pt x="77089" y="62927"/>
                  </a:cubicBezTo>
                  <a:cubicBezTo>
                    <a:pt x="80688" y="67138"/>
                    <a:pt x="82555" y="72638"/>
                    <a:pt x="82692" y="79427"/>
                  </a:cubicBezTo>
                  <a:cubicBezTo>
                    <a:pt x="82692" y="85539"/>
                    <a:pt x="80994" y="91039"/>
                    <a:pt x="77598" y="95928"/>
                  </a:cubicBezTo>
                  <a:cubicBezTo>
                    <a:pt x="74203" y="100816"/>
                    <a:pt x="69416" y="104653"/>
                    <a:pt x="63236" y="107438"/>
                  </a:cubicBezTo>
                  <a:cubicBezTo>
                    <a:pt x="57058" y="110222"/>
                    <a:pt x="49962" y="111614"/>
                    <a:pt x="41950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A3ACFF-D337-AB98-1EC4-5A151B2222CB}"/>
                </a:ext>
              </a:extLst>
            </p:cNvPr>
            <p:cNvSpPr/>
            <p:nvPr/>
          </p:nvSpPr>
          <p:spPr>
            <a:xfrm>
              <a:off x="-1164142" y="1253169"/>
              <a:ext cx="112855" cy="115297"/>
            </a:xfrm>
            <a:custGeom>
              <a:avLst/>
              <a:gdLst>
                <a:gd name="connsiteX0" fmla="*/ 50987 w 112855"/>
                <a:gd name="connsiteY0" fmla="*/ 111614 h 115297"/>
                <a:gd name="connsiteX1" fmla="*/ 22571 w 112855"/>
                <a:gd name="connsiteY1" fmla="*/ 104484 h 115297"/>
                <a:gd name="connsiteX2" fmla="*/ 2607 w 112855"/>
                <a:gd name="connsiteY2" fmla="*/ 84216 h 115297"/>
                <a:gd name="connsiteX3" fmla="*/ -4625 w 112855"/>
                <a:gd name="connsiteY3" fmla="*/ 53761 h 115297"/>
                <a:gd name="connsiteX4" fmla="*/ 2811 w 112855"/>
                <a:gd name="connsiteY4" fmla="*/ 23510 h 115297"/>
                <a:gd name="connsiteX5" fmla="*/ 23079 w 112855"/>
                <a:gd name="connsiteY5" fmla="*/ 3343 h 115297"/>
                <a:gd name="connsiteX6" fmla="*/ 51804 w 112855"/>
                <a:gd name="connsiteY6" fmla="*/ -3684 h 115297"/>
                <a:gd name="connsiteX7" fmla="*/ 80526 w 112855"/>
                <a:gd name="connsiteY7" fmla="*/ 3343 h 115297"/>
                <a:gd name="connsiteX8" fmla="*/ 100795 w 112855"/>
                <a:gd name="connsiteY8" fmla="*/ 23408 h 115297"/>
                <a:gd name="connsiteX9" fmla="*/ 108231 w 112855"/>
                <a:gd name="connsiteY9" fmla="*/ 53761 h 115297"/>
                <a:gd name="connsiteX10" fmla="*/ 100591 w 112855"/>
                <a:gd name="connsiteY10" fmla="*/ 84216 h 115297"/>
                <a:gd name="connsiteX11" fmla="*/ 79914 w 112855"/>
                <a:gd name="connsiteY11" fmla="*/ 104484 h 115297"/>
                <a:gd name="connsiteX12" fmla="*/ 50987 w 112855"/>
                <a:gd name="connsiteY12" fmla="*/ 111614 h 115297"/>
                <a:gd name="connsiteX13" fmla="*/ 50987 w 112855"/>
                <a:gd name="connsiteY13" fmla="*/ 95317 h 115297"/>
                <a:gd name="connsiteX14" fmla="*/ 69729 w 112855"/>
                <a:gd name="connsiteY14" fmla="*/ 90632 h 115297"/>
                <a:gd name="connsiteX15" fmla="*/ 83887 w 112855"/>
                <a:gd name="connsiteY15" fmla="*/ 76576 h 115297"/>
                <a:gd name="connsiteX16" fmla="*/ 89285 w 112855"/>
                <a:gd name="connsiteY16" fmla="*/ 53761 h 115297"/>
                <a:gd name="connsiteX17" fmla="*/ 83989 w 112855"/>
                <a:gd name="connsiteY17" fmla="*/ 30946 h 115297"/>
                <a:gd name="connsiteX18" fmla="*/ 70136 w 112855"/>
                <a:gd name="connsiteY18" fmla="*/ 16992 h 115297"/>
                <a:gd name="connsiteX19" fmla="*/ 51598 w 112855"/>
                <a:gd name="connsiteY19" fmla="*/ 12408 h 115297"/>
                <a:gd name="connsiteX20" fmla="*/ 32959 w 112855"/>
                <a:gd name="connsiteY20" fmla="*/ 16992 h 115297"/>
                <a:gd name="connsiteX21" fmla="*/ 19413 w 112855"/>
                <a:gd name="connsiteY21" fmla="*/ 30946 h 115297"/>
                <a:gd name="connsiteX22" fmla="*/ 14320 w 112855"/>
                <a:gd name="connsiteY22" fmla="*/ 53761 h 115297"/>
                <a:gd name="connsiteX23" fmla="*/ 19311 w 112855"/>
                <a:gd name="connsiteY23" fmla="*/ 76780 h 115297"/>
                <a:gd name="connsiteX24" fmla="*/ 32655 w 112855"/>
                <a:gd name="connsiteY24" fmla="*/ 90734 h 115297"/>
                <a:gd name="connsiteX25" fmla="*/ 50987 w 112855"/>
                <a:gd name="connsiteY25" fmla="*/ 95317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2855" h="115297">
                  <a:moveTo>
                    <a:pt x="50987" y="111614"/>
                  </a:moveTo>
                  <a:cubicBezTo>
                    <a:pt x="40531" y="111614"/>
                    <a:pt x="31058" y="109236"/>
                    <a:pt x="22571" y="104484"/>
                  </a:cubicBezTo>
                  <a:cubicBezTo>
                    <a:pt x="14082" y="99731"/>
                    <a:pt x="7428" y="92975"/>
                    <a:pt x="2607" y="84216"/>
                  </a:cubicBezTo>
                  <a:cubicBezTo>
                    <a:pt x="-2214" y="75455"/>
                    <a:pt x="-4625" y="65305"/>
                    <a:pt x="-4625" y="53761"/>
                  </a:cubicBezTo>
                  <a:cubicBezTo>
                    <a:pt x="-4625" y="42353"/>
                    <a:pt x="-2145" y="32269"/>
                    <a:pt x="2811" y="23510"/>
                  </a:cubicBezTo>
                  <a:cubicBezTo>
                    <a:pt x="7767" y="14751"/>
                    <a:pt x="14524" y="8029"/>
                    <a:pt x="23079" y="3343"/>
                  </a:cubicBezTo>
                  <a:cubicBezTo>
                    <a:pt x="31636" y="-1343"/>
                    <a:pt x="41210" y="-3684"/>
                    <a:pt x="51804" y="-3684"/>
                  </a:cubicBezTo>
                  <a:cubicBezTo>
                    <a:pt x="62396" y="-3684"/>
                    <a:pt x="71969" y="-1343"/>
                    <a:pt x="80526" y="3343"/>
                  </a:cubicBezTo>
                  <a:cubicBezTo>
                    <a:pt x="89082" y="8029"/>
                    <a:pt x="95838" y="14717"/>
                    <a:pt x="100795" y="23408"/>
                  </a:cubicBezTo>
                  <a:cubicBezTo>
                    <a:pt x="105751" y="32100"/>
                    <a:pt x="108231" y="42218"/>
                    <a:pt x="108231" y="53761"/>
                  </a:cubicBezTo>
                  <a:cubicBezTo>
                    <a:pt x="108231" y="65305"/>
                    <a:pt x="105684" y="75455"/>
                    <a:pt x="100591" y="84216"/>
                  </a:cubicBezTo>
                  <a:cubicBezTo>
                    <a:pt x="95498" y="92975"/>
                    <a:pt x="88606" y="99731"/>
                    <a:pt x="79914" y="104484"/>
                  </a:cubicBezTo>
                  <a:cubicBezTo>
                    <a:pt x="71223" y="109236"/>
                    <a:pt x="61581" y="111614"/>
                    <a:pt x="50987" y="111614"/>
                  </a:cubicBezTo>
                  <a:close/>
                  <a:moveTo>
                    <a:pt x="50987" y="95317"/>
                  </a:moveTo>
                  <a:cubicBezTo>
                    <a:pt x="57643" y="95317"/>
                    <a:pt x="63890" y="93755"/>
                    <a:pt x="69729" y="90632"/>
                  </a:cubicBezTo>
                  <a:cubicBezTo>
                    <a:pt x="75568" y="87508"/>
                    <a:pt x="80288" y="82823"/>
                    <a:pt x="83887" y="76576"/>
                  </a:cubicBezTo>
                  <a:cubicBezTo>
                    <a:pt x="87485" y="70329"/>
                    <a:pt x="89285" y="62724"/>
                    <a:pt x="89285" y="53761"/>
                  </a:cubicBezTo>
                  <a:cubicBezTo>
                    <a:pt x="89285" y="44798"/>
                    <a:pt x="87519" y="37193"/>
                    <a:pt x="83989" y="30946"/>
                  </a:cubicBezTo>
                  <a:cubicBezTo>
                    <a:pt x="80458" y="24698"/>
                    <a:pt x="75840" y="20047"/>
                    <a:pt x="70136" y="16992"/>
                  </a:cubicBezTo>
                  <a:cubicBezTo>
                    <a:pt x="64432" y="13937"/>
                    <a:pt x="58254" y="12408"/>
                    <a:pt x="51598" y="12408"/>
                  </a:cubicBezTo>
                  <a:cubicBezTo>
                    <a:pt x="44809" y="12408"/>
                    <a:pt x="38597" y="13937"/>
                    <a:pt x="32959" y="16992"/>
                  </a:cubicBezTo>
                  <a:cubicBezTo>
                    <a:pt x="27324" y="20047"/>
                    <a:pt x="22809" y="24698"/>
                    <a:pt x="19413" y="30946"/>
                  </a:cubicBezTo>
                  <a:cubicBezTo>
                    <a:pt x="16018" y="37193"/>
                    <a:pt x="14320" y="44798"/>
                    <a:pt x="14320" y="53761"/>
                  </a:cubicBezTo>
                  <a:cubicBezTo>
                    <a:pt x="14320" y="62859"/>
                    <a:pt x="15984" y="70533"/>
                    <a:pt x="19311" y="76780"/>
                  </a:cubicBezTo>
                  <a:cubicBezTo>
                    <a:pt x="22639" y="83026"/>
                    <a:pt x="27086" y="87678"/>
                    <a:pt x="32655" y="90734"/>
                  </a:cubicBezTo>
                  <a:cubicBezTo>
                    <a:pt x="38222" y="93789"/>
                    <a:pt x="44333" y="95317"/>
                    <a:pt x="50987" y="95317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5" name="Freeform: Shape 40">
              <a:extLst>
                <a:ext uri="{FF2B5EF4-FFF2-40B4-BE49-F238E27FC236}">
                  <a16:creationId xmlns:a16="http://schemas.microsoft.com/office/drawing/2014/main" id="{DEB5AE41-BEF7-6D3D-198C-C11885A15B5E}"/>
                </a:ext>
              </a:extLst>
            </p:cNvPr>
            <p:cNvSpPr/>
            <p:nvPr/>
          </p:nvSpPr>
          <p:spPr>
            <a:xfrm>
              <a:off x="-977472" y="1252965"/>
              <a:ext cx="54594" cy="113668"/>
            </a:xfrm>
            <a:custGeom>
              <a:avLst/>
              <a:gdLst>
                <a:gd name="connsiteX0" fmla="*/ 13033 w 54594"/>
                <a:gd name="connsiteY0" fmla="*/ 16488 h 113668"/>
                <a:gd name="connsiteX1" fmla="*/ 26986 w 54594"/>
                <a:gd name="connsiteY1" fmla="*/ 1618 h 113668"/>
                <a:gd name="connsiteX2" fmla="*/ 49089 w 54594"/>
                <a:gd name="connsiteY2" fmla="*/ -3678 h 113668"/>
                <a:gd name="connsiteX3" fmla="*/ 49089 w 54594"/>
                <a:gd name="connsiteY3" fmla="*/ 15470 h 113668"/>
                <a:gd name="connsiteX4" fmla="*/ 44199 w 54594"/>
                <a:gd name="connsiteY4" fmla="*/ 15470 h 113668"/>
                <a:gd name="connsiteX5" fmla="*/ 13033 w 54594"/>
                <a:gd name="connsiteY5" fmla="*/ 49285 h 113668"/>
                <a:gd name="connsiteX6" fmla="*/ 13033 w 54594"/>
                <a:gd name="connsiteY6" fmla="*/ 109990 h 113668"/>
                <a:gd name="connsiteX7" fmla="*/ -5505 w 54594"/>
                <a:gd name="connsiteY7" fmla="*/ 109990 h 113668"/>
                <a:gd name="connsiteX8" fmla="*/ -5505 w 54594"/>
                <a:gd name="connsiteY8" fmla="*/ -1641 h 113668"/>
                <a:gd name="connsiteX9" fmla="*/ 13033 w 54594"/>
                <a:gd name="connsiteY9" fmla="*/ -1641 h 113668"/>
                <a:gd name="connsiteX10" fmla="*/ 13033 w 54594"/>
                <a:gd name="connsiteY10" fmla="*/ 16488 h 11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594" h="113668">
                  <a:moveTo>
                    <a:pt x="13033" y="16488"/>
                  </a:moveTo>
                  <a:cubicBezTo>
                    <a:pt x="16291" y="10106"/>
                    <a:pt x="20943" y="5148"/>
                    <a:pt x="26986" y="1618"/>
                  </a:cubicBezTo>
                  <a:cubicBezTo>
                    <a:pt x="33029" y="-1913"/>
                    <a:pt x="40397" y="-3678"/>
                    <a:pt x="49089" y="-3678"/>
                  </a:cubicBezTo>
                  <a:lnTo>
                    <a:pt x="49089" y="15470"/>
                  </a:lnTo>
                  <a:lnTo>
                    <a:pt x="44199" y="15470"/>
                  </a:lnTo>
                  <a:cubicBezTo>
                    <a:pt x="23421" y="15470"/>
                    <a:pt x="13033" y="26743"/>
                    <a:pt x="13033" y="49285"/>
                  </a:cubicBezTo>
                  <a:lnTo>
                    <a:pt x="13033" y="109990"/>
                  </a:lnTo>
                  <a:lnTo>
                    <a:pt x="-5505" y="109990"/>
                  </a:lnTo>
                  <a:lnTo>
                    <a:pt x="-5505" y="-1641"/>
                  </a:lnTo>
                  <a:lnTo>
                    <a:pt x="13033" y="-1641"/>
                  </a:lnTo>
                  <a:lnTo>
                    <a:pt x="13033" y="16488"/>
                  </a:ln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" name="Freeform: Shape 41">
              <a:extLst>
                <a:ext uri="{FF2B5EF4-FFF2-40B4-BE49-F238E27FC236}">
                  <a16:creationId xmlns:a16="http://schemas.microsoft.com/office/drawing/2014/main" id="{99E3CDC5-EE6F-8E3A-188F-EA841550E9A7}"/>
                </a:ext>
              </a:extLst>
            </p:cNvPr>
            <p:cNvSpPr/>
            <p:nvPr/>
          </p:nvSpPr>
          <p:spPr>
            <a:xfrm>
              <a:off x="-857577" y="1253169"/>
              <a:ext cx="86373" cy="115297"/>
            </a:xfrm>
            <a:custGeom>
              <a:avLst/>
              <a:gdLst>
                <a:gd name="connsiteX0" fmla="*/ 39384 w 86373"/>
                <a:gd name="connsiteY0" fmla="*/ 111614 h 115297"/>
                <a:gd name="connsiteX1" fmla="*/ 16364 w 86373"/>
                <a:gd name="connsiteY1" fmla="*/ 107234 h 115297"/>
                <a:gd name="connsiteX2" fmla="*/ 272 w 86373"/>
                <a:gd name="connsiteY2" fmla="*/ 95011 h 115297"/>
                <a:gd name="connsiteX3" fmla="*/ -6247 w 86373"/>
                <a:gd name="connsiteY3" fmla="*/ 76983 h 115297"/>
                <a:gd name="connsiteX4" fmla="*/ 12902 w 86373"/>
                <a:gd name="connsiteY4" fmla="*/ 76983 h 115297"/>
                <a:gd name="connsiteX5" fmla="*/ 20744 w 86373"/>
                <a:gd name="connsiteY5" fmla="*/ 90632 h 115297"/>
                <a:gd name="connsiteX6" fmla="*/ 39181 w 86373"/>
                <a:gd name="connsiteY6" fmla="*/ 95928 h 115297"/>
                <a:gd name="connsiteX7" fmla="*/ 55884 w 86373"/>
                <a:gd name="connsiteY7" fmla="*/ 91243 h 115297"/>
                <a:gd name="connsiteX8" fmla="*/ 61996 w 86373"/>
                <a:gd name="connsiteY8" fmla="*/ 79427 h 115297"/>
                <a:gd name="connsiteX9" fmla="*/ 55477 w 86373"/>
                <a:gd name="connsiteY9" fmla="*/ 68529 h 115297"/>
                <a:gd name="connsiteX10" fmla="*/ 35309 w 86373"/>
                <a:gd name="connsiteY10" fmla="*/ 61502 h 115297"/>
                <a:gd name="connsiteX11" fmla="*/ 15041 w 86373"/>
                <a:gd name="connsiteY11" fmla="*/ 54881 h 115297"/>
                <a:gd name="connsiteX12" fmla="*/ 1596 w 86373"/>
                <a:gd name="connsiteY12" fmla="*/ 44900 h 115297"/>
                <a:gd name="connsiteX13" fmla="*/ -4005 w 86373"/>
                <a:gd name="connsiteY13" fmla="*/ 27483 h 115297"/>
                <a:gd name="connsiteX14" fmla="*/ 1086 w 86373"/>
                <a:gd name="connsiteY14" fmla="*/ 11797 h 115297"/>
                <a:gd name="connsiteX15" fmla="*/ 15549 w 86373"/>
                <a:gd name="connsiteY15" fmla="*/ 492 h 115297"/>
                <a:gd name="connsiteX16" fmla="*/ 36939 w 86373"/>
                <a:gd name="connsiteY16" fmla="*/ -3684 h 115297"/>
                <a:gd name="connsiteX17" fmla="*/ 66885 w 86373"/>
                <a:gd name="connsiteY17" fmla="*/ 5686 h 115297"/>
                <a:gd name="connsiteX18" fmla="*/ 79106 w 86373"/>
                <a:gd name="connsiteY18" fmla="*/ 31354 h 115297"/>
                <a:gd name="connsiteX19" fmla="*/ 60570 w 86373"/>
                <a:gd name="connsiteY19" fmla="*/ 31354 h 115297"/>
                <a:gd name="connsiteX20" fmla="*/ 53541 w 86373"/>
                <a:gd name="connsiteY20" fmla="*/ 17298 h 115297"/>
                <a:gd name="connsiteX21" fmla="*/ 36328 w 86373"/>
                <a:gd name="connsiteY21" fmla="*/ 12001 h 115297"/>
                <a:gd name="connsiteX22" fmla="*/ 20439 w 86373"/>
                <a:gd name="connsiteY22" fmla="*/ 16278 h 115297"/>
                <a:gd name="connsiteX23" fmla="*/ 14531 w 86373"/>
                <a:gd name="connsiteY23" fmla="*/ 27483 h 115297"/>
                <a:gd name="connsiteX24" fmla="*/ 18096 w 86373"/>
                <a:gd name="connsiteY24" fmla="*/ 36548 h 115297"/>
                <a:gd name="connsiteX25" fmla="*/ 27059 w 86373"/>
                <a:gd name="connsiteY25" fmla="*/ 42252 h 115297"/>
                <a:gd name="connsiteX26" fmla="*/ 42032 w 86373"/>
                <a:gd name="connsiteY26" fmla="*/ 47039 h 115297"/>
                <a:gd name="connsiteX27" fmla="*/ 61588 w 86373"/>
                <a:gd name="connsiteY27" fmla="*/ 53455 h 115297"/>
                <a:gd name="connsiteX28" fmla="*/ 74523 w 86373"/>
                <a:gd name="connsiteY28" fmla="*/ 62927 h 115297"/>
                <a:gd name="connsiteX29" fmla="*/ 80126 w 86373"/>
                <a:gd name="connsiteY29" fmla="*/ 79427 h 115297"/>
                <a:gd name="connsiteX30" fmla="*/ 75033 w 86373"/>
                <a:gd name="connsiteY30" fmla="*/ 95928 h 115297"/>
                <a:gd name="connsiteX31" fmla="*/ 60671 w 86373"/>
                <a:gd name="connsiteY31" fmla="*/ 107438 h 115297"/>
                <a:gd name="connsiteX32" fmla="*/ 39384 w 86373"/>
                <a:gd name="connsiteY32" fmla="*/ 111614 h 115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373" h="115297">
                  <a:moveTo>
                    <a:pt x="39384" y="111614"/>
                  </a:moveTo>
                  <a:cubicBezTo>
                    <a:pt x="30827" y="111614"/>
                    <a:pt x="23155" y="110154"/>
                    <a:pt x="16364" y="107234"/>
                  </a:cubicBezTo>
                  <a:cubicBezTo>
                    <a:pt x="9575" y="104314"/>
                    <a:pt x="4210" y="100240"/>
                    <a:pt x="272" y="95011"/>
                  </a:cubicBezTo>
                  <a:cubicBezTo>
                    <a:pt x="-3666" y="89783"/>
                    <a:pt x="-5840" y="83774"/>
                    <a:pt x="-6247" y="76983"/>
                  </a:cubicBezTo>
                  <a:lnTo>
                    <a:pt x="12902" y="76983"/>
                  </a:lnTo>
                  <a:cubicBezTo>
                    <a:pt x="13444" y="82552"/>
                    <a:pt x="16059" y="87101"/>
                    <a:pt x="20744" y="90632"/>
                  </a:cubicBezTo>
                  <a:cubicBezTo>
                    <a:pt x="25430" y="94162"/>
                    <a:pt x="31575" y="95928"/>
                    <a:pt x="39181" y="95928"/>
                  </a:cubicBezTo>
                  <a:cubicBezTo>
                    <a:pt x="46242" y="95928"/>
                    <a:pt x="51809" y="94366"/>
                    <a:pt x="55884" y="91243"/>
                  </a:cubicBezTo>
                  <a:cubicBezTo>
                    <a:pt x="59959" y="88119"/>
                    <a:pt x="61996" y="84181"/>
                    <a:pt x="61996" y="79427"/>
                  </a:cubicBezTo>
                  <a:cubicBezTo>
                    <a:pt x="61996" y="74539"/>
                    <a:pt x="59822" y="70906"/>
                    <a:pt x="55477" y="68529"/>
                  </a:cubicBezTo>
                  <a:cubicBezTo>
                    <a:pt x="51131" y="66153"/>
                    <a:pt x="44409" y="63811"/>
                    <a:pt x="35309" y="61502"/>
                  </a:cubicBezTo>
                  <a:cubicBezTo>
                    <a:pt x="27026" y="59328"/>
                    <a:pt x="20269" y="57122"/>
                    <a:pt x="15041" y="54881"/>
                  </a:cubicBezTo>
                  <a:cubicBezTo>
                    <a:pt x="9813" y="52640"/>
                    <a:pt x="5331" y="49313"/>
                    <a:pt x="1596" y="44900"/>
                  </a:cubicBezTo>
                  <a:cubicBezTo>
                    <a:pt x="-2138" y="40486"/>
                    <a:pt x="-4005" y="34681"/>
                    <a:pt x="-4005" y="27483"/>
                  </a:cubicBezTo>
                  <a:cubicBezTo>
                    <a:pt x="-4005" y="21778"/>
                    <a:pt x="-2309" y="16550"/>
                    <a:pt x="1086" y="11797"/>
                  </a:cubicBezTo>
                  <a:cubicBezTo>
                    <a:pt x="4482" y="7043"/>
                    <a:pt x="9303" y="3275"/>
                    <a:pt x="15549" y="492"/>
                  </a:cubicBezTo>
                  <a:cubicBezTo>
                    <a:pt x="21796" y="-2293"/>
                    <a:pt x="28926" y="-3684"/>
                    <a:pt x="36939" y="-3684"/>
                  </a:cubicBezTo>
                  <a:cubicBezTo>
                    <a:pt x="49297" y="-3684"/>
                    <a:pt x="59279" y="-561"/>
                    <a:pt x="66885" y="5686"/>
                  </a:cubicBezTo>
                  <a:cubicBezTo>
                    <a:pt x="74489" y="11933"/>
                    <a:pt x="78564" y="20488"/>
                    <a:pt x="79106" y="31354"/>
                  </a:cubicBezTo>
                  <a:lnTo>
                    <a:pt x="60570" y="31354"/>
                  </a:lnTo>
                  <a:cubicBezTo>
                    <a:pt x="60163" y="25513"/>
                    <a:pt x="57820" y="20829"/>
                    <a:pt x="53541" y="17298"/>
                  </a:cubicBezTo>
                  <a:cubicBezTo>
                    <a:pt x="49264" y="13766"/>
                    <a:pt x="43526" y="12001"/>
                    <a:pt x="36328" y="12001"/>
                  </a:cubicBezTo>
                  <a:cubicBezTo>
                    <a:pt x="29674" y="12001"/>
                    <a:pt x="24377" y="13427"/>
                    <a:pt x="20439" y="16278"/>
                  </a:cubicBezTo>
                  <a:cubicBezTo>
                    <a:pt x="16501" y="19131"/>
                    <a:pt x="14531" y="22865"/>
                    <a:pt x="14531" y="27483"/>
                  </a:cubicBezTo>
                  <a:cubicBezTo>
                    <a:pt x="14531" y="31150"/>
                    <a:pt x="15719" y="34171"/>
                    <a:pt x="18096" y="36548"/>
                  </a:cubicBezTo>
                  <a:cubicBezTo>
                    <a:pt x="20473" y="38923"/>
                    <a:pt x="23461" y="40825"/>
                    <a:pt x="27059" y="42252"/>
                  </a:cubicBezTo>
                  <a:cubicBezTo>
                    <a:pt x="30658" y="43678"/>
                    <a:pt x="35650" y="45273"/>
                    <a:pt x="42032" y="47039"/>
                  </a:cubicBezTo>
                  <a:cubicBezTo>
                    <a:pt x="50045" y="49211"/>
                    <a:pt x="56563" y="51350"/>
                    <a:pt x="61588" y="53455"/>
                  </a:cubicBezTo>
                  <a:cubicBezTo>
                    <a:pt x="66613" y="55560"/>
                    <a:pt x="70924" y="58717"/>
                    <a:pt x="74523" y="62927"/>
                  </a:cubicBezTo>
                  <a:cubicBezTo>
                    <a:pt x="78122" y="67138"/>
                    <a:pt x="79989" y="72638"/>
                    <a:pt x="80126" y="79427"/>
                  </a:cubicBezTo>
                  <a:cubicBezTo>
                    <a:pt x="80126" y="85539"/>
                    <a:pt x="78428" y="91039"/>
                    <a:pt x="75033" y="95928"/>
                  </a:cubicBezTo>
                  <a:cubicBezTo>
                    <a:pt x="71638" y="100816"/>
                    <a:pt x="66851" y="104653"/>
                    <a:pt x="60671" y="107438"/>
                  </a:cubicBezTo>
                  <a:cubicBezTo>
                    <a:pt x="54493" y="110222"/>
                    <a:pt x="47397" y="111614"/>
                    <a:pt x="39384" y="111614"/>
                  </a:cubicBezTo>
                  <a:close/>
                </a:path>
              </a:pathLst>
            </a:custGeom>
            <a:solidFill>
              <a:schemeClr val="bg1"/>
            </a:solidFill>
            <a:ln w="14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7" name="Freeform: Shape 42">
              <a:extLst>
                <a:ext uri="{FF2B5EF4-FFF2-40B4-BE49-F238E27FC236}">
                  <a16:creationId xmlns:a16="http://schemas.microsoft.com/office/drawing/2014/main" id="{248F03C8-B78E-FF65-B071-A8569D1A0223}"/>
                </a:ext>
              </a:extLst>
            </p:cNvPr>
            <p:cNvSpPr/>
            <p:nvPr/>
          </p:nvSpPr>
          <p:spPr>
            <a:xfrm rot="19796186">
              <a:off x="-2006334" y="1241532"/>
              <a:ext cx="151108" cy="173844"/>
            </a:xfrm>
            <a:custGeom>
              <a:avLst/>
              <a:gdLst>
                <a:gd name="connsiteX0" fmla="*/ -2702 w 151108"/>
                <a:gd name="connsiteY0" fmla="*/ 76552 h 173844"/>
                <a:gd name="connsiteX1" fmla="*/ 148407 w 151108"/>
                <a:gd name="connsiteY1" fmla="*/ -11625 h 173844"/>
                <a:gd name="connsiteX2" fmla="*/ 148407 w 151108"/>
                <a:gd name="connsiteY2" fmla="*/ 162219 h 173844"/>
                <a:gd name="connsiteX3" fmla="*/ 129644 w 151108"/>
                <a:gd name="connsiteY3" fmla="*/ 152132 h 173844"/>
                <a:gd name="connsiteX4" fmla="*/ 129644 w 151108"/>
                <a:gd name="connsiteY4" fmla="*/ 124429 h 173844"/>
                <a:gd name="connsiteX5" fmla="*/ 40885 w 151108"/>
                <a:gd name="connsiteY5" fmla="*/ 71533 h 173844"/>
                <a:gd name="connsiteX6" fmla="*/ 16033 w 151108"/>
                <a:gd name="connsiteY6" fmla="*/ 86639 h 173844"/>
                <a:gd name="connsiteX7" fmla="*/ -2702 w 151108"/>
                <a:gd name="connsiteY7" fmla="*/ 76552 h 173844"/>
                <a:gd name="connsiteX8" fmla="*/ 54650 w 151108"/>
                <a:gd name="connsiteY8" fmla="*/ 63955 h 173844"/>
                <a:gd name="connsiteX9" fmla="*/ 129644 w 151108"/>
                <a:gd name="connsiteY9" fmla="*/ 106789 h 173844"/>
                <a:gd name="connsiteX10" fmla="*/ 129644 w 151108"/>
                <a:gd name="connsiteY10" fmla="*/ 21146 h 173844"/>
                <a:gd name="connsiteX11" fmla="*/ 54650 w 151108"/>
                <a:gd name="connsiteY11" fmla="*/ 63955 h 17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108" h="173844">
                  <a:moveTo>
                    <a:pt x="-2702" y="76552"/>
                  </a:moveTo>
                  <a:lnTo>
                    <a:pt x="148407" y="-11625"/>
                  </a:lnTo>
                  <a:lnTo>
                    <a:pt x="148407" y="162219"/>
                  </a:lnTo>
                  <a:lnTo>
                    <a:pt x="129644" y="152132"/>
                  </a:lnTo>
                  <a:lnTo>
                    <a:pt x="129644" y="124429"/>
                  </a:lnTo>
                  <a:lnTo>
                    <a:pt x="40885" y="71533"/>
                  </a:lnTo>
                  <a:lnTo>
                    <a:pt x="16033" y="86639"/>
                  </a:lnTo>
                  <a:lnTo>
                    <a:pt x="-2702" y="76552"/>
                  </a:lnTo>
                  <a:close/>
                  <a:moveTo>
                    <a:pt x="54650" y="63955"/>
                  </a:moveTo>
                  <a:lnTo>
                    <a:pt x="129644" y="106789"/>
                  </a:lnTo>
                  <a:lnTo>
                    <a:pt x="129644" y="21146"/>
                  </a:lnTo>
                  <a:lnTo>
                    <a:pt x="54650" y="63955"/>
                  </a:lnTo>
                  <a:close/>
                </a:path>
              </a:pathLst>
            </a:custGeom>
            <a:solidFill>
              <a:schemeClr val="bg1"/>
            </a:solidFill>
            <a:ln w="17264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 sz="2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85ADCFE4-5805-890E-745D-8F19A57E21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0733" y="1724124"/>
            <a:ext cx="7920193" cy="738664"/>
          </a:xfrm>
          <a:prstGeom prst="rect">
            <a:avLst/>
          </a:prstGeom>
        </p:spPr>
        <p:txBody>
          <a:bodyPr vert="horz" anchor="b"/>
          <a:lstStyle>
            <a:lvl1pPr algn="l">
              <a:defRPr sz="48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Title Slide: Dark</a:t>
            </a:r>
            <a:endParaRPr lang="da-DK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2B09E3-FAAE-ED13-AF9A-0D53CADAE3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0733" y="2550985"/>
            <a:ext cx="7920193" cy="512897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133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0768FDC1-6D41-1F9C-4D3E-37F8A30F2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732" y="3505738"/>
            <a:ext cx="3800147" cy="305789"/>
          </a:xfrm>
        </p:spPr>
        <p:txBody>
          <a:bodyPr tIns="9144" bIns="9144" anchor="b">
            <a:sp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1867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MM, DD, YYYY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9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Pl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8">
            <a:extLst>
              <a:ext uri="{FF2B5EF4-FFF2-40B4-BE49-F238E27FC236}">
                <a16:creationId xmlns:a16="http://schemas.microsoft.com/office/drawing/2014/main" id="{040F44BC-85FB-BA1A-010A-8D5DF442D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1B57D95-97BB-921C-3F82-1C5C9716CB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672981-BBAA-3958-3B22-F8CBE10791F3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289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Dark_Nu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3367719-3351-33E9-9C91-64657A08E7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953021D-E6AD-E660-3DD1-019E4295EF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93908EE-BF33-DD3D-A94E-66167F347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B26E6B-2D03-B827-E0EF-857BA6F4E6CC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545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Pla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7D0434-F6C5-E401-2B7D-97150B7CA50D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8">
            <a:extLst>
              <a:ext uri="{FF2B5EF4-FFF2-40B4-BE49-F238E27FC236}">
                <a16:creationId xmlns:a16="http://schemas.microsoft.com/office/drawing/2014/main" id="{5FCF449E-431C-D715-FB6E-A9190D944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35036A1-7E79-E176-EDCD-5CCE2ACADA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082490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Light_Nu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394416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BDFDB58-2596-E563-7931-AFD7F3D01C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8687" y="2519453"/>
            <a:ext cx="852715" cy="820737"/>
          </a:xfrm>
        </p:spPr>
        <p:txBody>
          <a:bodyPr tIns="0" rIns="0" bIns="0" anchor="ctr">
            <a:sp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5333" b="0" kern="1200" dirty="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FC5E2AF-0279-399F-9CFA-067B78F41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7596" y="2519453"/>
            <a:ext cx="6628597" cy="827772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>
              <a:defRPr sz="5333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0423E19-A119-78A2-F2CE-8B0F908E49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7596" y="3479027"/>
            <a:ext cx="6628597" cy="553998"/>
          </a:xfrm>
        </p:spPr>
        <p:txBody>
          <a:bodyPr wrap="square" anchor="b">
            <a:sp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goes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6506B8-BAC7-CE09-2A35-51815BA3BEB9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146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Dar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6462E44-020C-CA27-80D7-F752B6D36145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1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C08382-CD4D-C02C-EF06-6370206F14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78688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_Teal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D6D4F8-980C-7932-3AF2-FF348AD90669}"/>
              </a:ext>
            </a:extLst>
          </p:cNvPr>
          <p:cNvSpPr/>
          <p:nvPr userDrawn="1"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4B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9313467-AAEB-47EA-872C-6D5E4A9603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535283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9313467-AAEB-47EA-872C-6D5E4A9603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C618601-F80E-B62F-3A4F-475D86102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249" y="3135789"/>
            <a:ext cx="3029300" cy="8413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4267" b="1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1/3 Layout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A735F9-6926-6EB6-9522-5FD34377AF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84752" y="1690431"/>
            <a:ext cx="6088049" cy="3793527"/>
          </a:xfrm>
          <a:prstGeom prst="rect">
            <a:avLst/>
          </a:prstGeom>
        </p:spPr>
        <p:txBody>
          <a:bodyPr vert="horz" lIns="0" tIns="91440" rIns="91440" bIns="91440" rtlCol="0" anchor="ctr">
            <a:normAutofit/>
          </a:bodyPr>
          <a:lstStyle>
            <a:lvl1pPr>
              <a:spcAft>
                <a:spcPts val="1067"/>
              </a:spcAft>
              <a:buClr>
                <a:schemeClr val="accent1"/>
              </a:buClr>
              <a:defRPr sz="3200">
                <a:solidFill>
                  <a:schemeClr val="bg2"/>
                </a:solidFill>
              </a:defRPr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18830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BC805-EBF1-9D68-BCF5-3218C64627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5D4017-DA17-11FC-3A8B-2EC780C95D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3A36673-9167-CFCA-11F4-533B6010E4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63" y="1561237"/>
            <a:ext cx="11484263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A599683-2567-4D42-BF3A-778195C6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EE4F2F-DF96-39BD-C370-937EEEB230E0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3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3E07DAC-B2D9-A04C-7C4D-F2006D2DA9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E53DD72-5377-D04E-E318-82FDA0AE03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1CC7B92-B741-6ADF-F427-24BD2ADE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E770936-EB16-E6CA-4856-F1FC475A38A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16885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FEA41B-E0DC-0C7B-B940-1147B8D988CB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462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E276FF0-C37C-2EFD-5472-DEF1014616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0D042CE-9B60-556F-BFFC-273845DA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D86C69E-4085-29B5-B573-F95043664D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430" y="1555767"/>
            <a:ext cx="5527041" cy="4724400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>
            <a:lvl1pPr>
              <a:spcAft>
                <a:spcPts val="1067"/>
              </a:spcAft>
              <a:defRPr sz="1467"/>
            </a:lvl1pPr>
            <a:lvl3pPr marL="770447" indent="0">
              <a:buNone/>
              <a:defRPr/>
            </a:lvl3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  <a:p>
            <a:pPr marL="385224" marR="0" lvl="0" indent="-226478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</a:t>
            </a:r>
          </a:p>
        </p:txBody>
      </p:sp>
      <p:sp>
        <p:nvSpPr>
          <p:cNvPr id="20" name="Chart Placeholder 19">
            <a:extLst>
              <a:ext uri="{FF2B5EF4-FFF2-40B4-BE49-F238E27FC236}">
                <a16:creationId xmlns:a16="http://schemas.microsoft.com/office/drawing/2014/main" id="{6C8D5A57-635C-23F0-2482-986C08A1B93D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316885" y="1555767"/>
            <a:ext cx="5527041" cy="4724400"/>
          </a:xfrm>
        </p:spPr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D7BC99-637A-F706-74D7-DA56ED8F97AA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98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Chart Placeholder 2">
            <a:extLst>
              <a:ext uri="{FF2B5EF4-FFF2-40B4-BE49-F238E27FC236}">
                <a16:creationId xmlns:a16="http://schemas.microsoft.com/office/drawing/2014/main" id="{B4F153E5-6141-9F9E-1265-1628F44B467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59663" y="1559732"/>
            <a:ext cx="11484263" cy="472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7CA46D2-0453-BC13-DD86-3C6E177A1B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2A89958-09D7-A027-EF4F-AD61EB2C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BA188C-C3CE-9572-5EF9-51E5FE05059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331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CB52E-A0F8-39AE-56EE-3F04B4D058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1869109-AB79-DF35-EE18-0EFCC2AD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344E3F-B188-3B34-80EC-ABEBEA9C32DF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649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C3B0F8C-76B6-4AC4-AE39-16D072D3C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279737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C3B0F8C-76B6-4AC4-AE39-16D072D3C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8C98F0-41A8-D8D8-C323-75A180C29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63" y="910752"/>
            <a:ext cx="11484263" cy="333849"/>
          </a:xfrm>
        </p:spPr>
        <p:txBody>
          <a:bodyPr anchor="ctr">
            <a:noAutofit/>
          </a:bodyPr>
          <a:lstStyle>
            <a:lvl1pPr marL="0" indent="0">
              <a:buNone/>
              <a:defRPr b="0">
                <a:solidFill>
                  <a:schemeClr val="bg2"/>
                </a:solidFill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B97C72F-D322-B4B3-D691-C28EA206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581E40-7CA7-5C51-E1AA-A61B030B3238}"/>
              </a:ext>
            </a:extLst>
          </p:cNvPr>
          <p:cNvCxnSpPr/>
          <p:nvPr userDrawn="1"/>
        </p:nvCxnSpPr>
        <p:spPr>
          <a:xfrm>
            <a:off x="356925" y="230849"/>
            <a:ext cx="11470641" cy="0"/>
          </a:xfrm>
          <a:prstGeom prst="line">
            <a:avLst/>
          </a:prstGeom>
          <a:ln w="25400">
            <a:solidFill>
              <a:srgbClr val="44B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217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78682-21C5-4BA6-02E4-574903906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464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D4A9-5D92-4739-AAD9-B0C9A340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DC7F7-86DB-4D3A-B43C-4AAC2E09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50C298-8AE4-4576-AA27-D7470A0CA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485270-763D-46EC-B43B-42E308CCDA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1D2EC-7033-4F9F-A4B3-00A8B9F25ED0}"/>
              </a:ext>
            </a:extLst>
          </p:cNvPr>
          <p:cNvSpPr/>
          <p:nvPr userDrawn="1"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446184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10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7E2FB85-0332-40E3-B58E-9B714AB8797B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06458562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95" imgH="394" progId="TCLayout.ActiveDocument.1">
                  <p:embed/>
                </p:oleObj>
              </mc:Choice>
              <mc:Fallback>
                <p:oleObj name="think-cell Slide" r:id="rId21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7E2FB85-0332-40E3-B58E-9B714AB87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663" y="1549402"/>
            <a:ext cx="11484263" cy="4731925"/>
          </a:xfrm>
          <a:prstGeom prst="rect">
            <a:avLst/>
          </a:prstGeom>
        </p:spPr>
        <p:txBody>
          <a:bodyPr vert="horz" lIns="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84000" y="6520722"/>
            <a:ext cx="147477" cy="14362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>
              <a:defRPr sz="9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096069B9-BB78-45EE-A327-B5E08C3C1DB1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EDC8A9-EC40-A491-439B-EA36C0F8F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5601" y="6492776"/>
            <a:ext cx="884937" cy="19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1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815" r:id="rId18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Poppins" pitchFamily="2" charset="77"/>
          <a:ea typeface="Verdana" panose="020B0604030504040204" pitchFamily="34" charset="0"/>
          <a:cs typeface="Poppins" pitchFamily="2" charset="77"/>
          <a:sym typeface="Arial" panose="020B0604020202020204" pitchFamily="34" charset="0"/>
        </a:defRPr>
      </a:lvl1pPr>
    </p:titleStyle>
    <p:bodyStyle>
      <a:lvl1pPr marL="385224" indent="-226478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SzPct val="110000"/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1pPr>
      <a:lvl2pPr marL="770447" indent="-311143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2pPr>
      <a:lvl3pPr marL="1071007" indent="-300559" algn="l" defTabSz="914377" rtl="0" eaLnBrk="1" latinLnBrk="0" hangingPunct="1">
        <a:lnSpc>
          <a:spcPct val="100000"/>
        </a:lnSpc>
        <a:spcBef>
          <a:spcPts val="0"/>
        </a:spcBef>
        <a:spcAft>
          <a:spcPts val="533"/>
        </a:spcAft>
        <a:buClr>
          <a:srgbClr val="000000"/>
        </a:buClr>
        <a:buFont typeface="Wingdings" pitchFamily="2" charset="2"/>
        <a:buChar char="§"/>
        <a:tabLst/>
        <a:defRPr sz="16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  <a:sym typeface="Arial" panose="020B0604020202020204" pitchFamily="34" charset="0"/>
        </a:defRPr>
      </a:lvl3pPr>
      <a:lvl4pPr marL="975336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Courier New" panose="02070309020205020404" pitchFamily="49" charset="0"/>
        <a:buChar char="o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1219170" indent="-243834" algn="l" defTabSz="914377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rgbClr val="000000"/>
        </a:buClr>
        <a:buFont typeface="Arial" panose="020B0604020202020204" pitchFamily="34" charset="0"/>
        <a:buChar char="•"/>
        <a:defRPr sz="1333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">
          <p15:clr>
            <a:srgbClr val="F26B43"/>
          </p15:clr>
        </p15:guide>
        <p15:guide id="2" pos="5592">
          <p15:clr>
            <a:srgbClr val="F26B43"/>
          </p15:clr>
        </p15:guide>
        <p15:guide id="3" pos="168">
          <p15:clr>
            <a:srgbClr val="F26B43"/>
          </p15:clr>
        </p15:guide>
        <p15:guide id="4" orient="horz" pos="588">
          <p15:clr>
            <a:srgbClr val="F26B43"/>
          </p15:clr>
        </p15:guide>
        <p15:guide id="5" pos="288">
          <p15:clr>
            <a:srgbClr val="F26B43"/>
          </p15:clr>
        </p15:guide>
        <p15:guide id="6" pos="5472">
          <p15:clr>
            <a:srgbClr val="F26B43"/>
          </p15:clr>
        </p15:guide>
        <p15:guide id="7" pos="2880">
          <p15:clr>
            <a:srgbClr val="F26B43"/>
          </p15:clr>
        </p15:guide>
        <p15:guide id="8" orient="horz" pos="3180">
          <p15:clr>
            <a:srgbClr val="F26B43"/>
          </p15:clr>
        </p15:guide>
        <p15:guide id="9" orient="horz" pos="1908">
          <p15:clr>
            <a:srgbClr val="F26B43"/>
          </p15:clr>
        </p15:guide>
        <p15:guide id="10" pos="2980">
          <p15:clr>
            <a:srgbClr val="F26B43"/>
          </p15:clr>
        </p15:guide>
        <p15:guide id="11" pos="2784">
          <p15:clr>
            <a:srgbClr val="F26B43"/>
          </p15:clr>
        </p15:guide>
        <p15:guide id="12" orient="horz" pos="1812">
          <p15:clr>
            <a:srgbClr val="F26B43"/>
          </p15:clr>
        </p15:guide>
        <p15:guide id="13" orient="horz" pos="2964">
          <p15:clr>
            <a:srgbClr val="F26B43"/>
          </p15:clr>
        </p15:guide>
        <p15:guide id="14" orient="horz" pos="3036">
          <p15:clr>
            <a:srgbClr val="F26B43"/>
          </p15:clr>
        </p15:guide>
        <p15:guide id="15" orient="horz" pos="180">
          <p15:clr>
            <a:srgbClr val="F26B43"/>
          </p15:clr>
        </p15:guide>
        <p15:guide id="16" orient="horz" pos="420">
          <p15:clr>
            <a:srgbClr val="F26B43"/>
          </p15:clr>
        </p15:guide>
        <p15:guide id="17" orient="horz" pos="660">
          <p15:clr>
            <a:srgbClr val="F26B43"/>
          </p15:clr>
        </p15:guide>
        <p15:guide id="18" orient="horz" pos="732">
          <p15:clr>
            <a:srgbClr val="F26B43"/>
          </p15:clr>
        </p15:guide>
        <p15:guide id="19" orient="horz" pos="8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.svg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A0B8-AD2D-AFB4-3EF1-DA393927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3A52FA-53AB-0AEF-BC46-1D4EB23351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3A52FA-53AB-0AEF-BC46-1D4EB2335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9945B137-A5F5-8F3D-42A4-F81EF8800856}"/>
              </a:ext>
            </a:extLst>
          </p:cNvPr>
          <p:cNvGrpSpPr/>
          <p:nvPr/>
        </p:nvGrpSpPr>
        <p:grpSpPr>
          <a:xfrm>
            <a:off x="359662" y="4753552"/>
            <a:ext cx="4421480" cy="1302494"/>
            <a:chOff x="3322794" y="2297997"/>
            <a:chExt cx="3981880" cy="1172995"/>
          </a:xfrm>
        </p:grpSpPr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BCA24121-4C02-214D-50E9-2FA54F947A0F}"/>
                </a:ext>
              </a:extLst>
            </p:cNvPr>
            <p:cNvSpPr/>
            <p:nvPr/>
          </p:nvSpPr>
          <p:spPr>
            <a:xfrm>
              <a:off x="3322794" y="3242392"/>
              <a:ext cx="3981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0" cap="none" spc="21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ptos" pitchFamily="34" charset="0"/>
                  <a:ea typeface="Aptos" pitchFamily="34" charset="-122"/>
                  <a:cs typeface="Aptos" pitchFamily="34" charset="-120"/>
                </a:rPr>
                <a:t>KEEP THE CONVERSATION AT THE CENTER</a:t>
              </a:r>
              <a:endPara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30FEFF-984D-4D93-BDAC-448166F812E0}"/>
                </a:ext>
              </a:extLst>
            </p:cNvPr>
            <p:cNvSpPr/>
            <p:nvPr/>
          </p:nvSpPr>
          <p:spPr>
            <a:xfrm>
              <a:off x="3322794" y="2297997"/>
              <a:ext cx="2868329" cy="69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8800" b="1">
                  <a:solidFill>
                    <a:schemeClr val="bg2"/>
                  </a:solidFill>
                </a:rPr>
                <a:t>O</a:t>
              </a:r>
              <a:r>
                <a:rPr lang="en-IN" sz="8800">
                  <a:solidFill>
                    <a:schemeClr val="bg2"/>
                  </a:solidFill>
                </a:rPr>
                <a:t>rbit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F4D37C-534E-B783-4D86-DDEBF624FAB3}"/>
              </a:ext>
            </a:extLst>
          </p:cNvPr>
          <p:cNvGrpSpPr/>
          <p:nvPr/>
        </p:nvGrpSpPr>
        <p:grpSpPr>
          <a:xfrm>
            <a:off x="359662" y="270053"/>
            <a:ext cx="3672717" cy="4018420"/>
            <a:chOff x="1543571" y="593587"/>
            <a:chExt cx="3307562" cy="3618894"/>
          </a:xfrm>
        </p:grpSpPr>
        <p:sp>
          <p:nvSpPr>
            <p:cNvPr id="12" name="Circle: Hollow 11">
              <a:extLst>
                <a:ext uri="{FF2B5EF4-FFF2-40B4-BE49-F238E27FC236}">
                  <a16:creationId xmlns:a16="http://schemas.microsoft.com/office/drawing/2014/main" id="{1D57CB02-F85F-CCEE-6CBC-DF17884DCB28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885898-8C27-F052-8D29-D155E5FF03C2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14" name="Shape 3">
                <a:extLst>
                  <a:ext uri="{FF2B5EF4-FFF2-40B4-BE49-F238E27FC236}">
                    <a16:creationId xmlns:a16="http://schemas.microsoft.com/office/drawing/2014/main" id="{90A1C259-E82B-CE3A-9EDC-62A8694E5577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15" name="Shape 4">
                <a:extLst>
                  <a:ext uri="{FF2B5EF4-FFF2-40B4-BE49-F238E27FC236}">
                    <a16:creationId xmlns:a16="http://schemas.microsoft.com/office/drawing/2014/main" id="{EA63D64C-A643-655F-ABD4-D52B23234796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16" name="Shape 5">
                <a:extLst>
                  <a:ext uri="{FF2B5EF4-FFF2-40B4-BE49-F238E27FC236}">
                    <a16:creationId xmlns:a16="http://schemas.microsoft.com/office/drawing/2014/main" id="{6D7A224F-C5E3-8F35-E356-F07ABF384D64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17" name="Shape 6">
                <a:extLst>
                  <a:ext uri="{FF2B5EF4-FFF2-40B4-BE49-F238E27FC236}">
                    <a16:creationId xmlns:a16="http://schemas.microsoft.com/office/drawing/2014/main" id="{64C24BD9-2ABB-947C-06A8-5DF00D444611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18" name="Shape 7">
                <a:extLst>
                  <a:ext uri="{FF2B5EF4-FFF2-40B4-BE49-F238E27FC236}">
                    <a16:creationId xmlns:a16="http://schemas.microsoft.com/office/drawing/2014/main" id="{3B23B6A7-7D50-66F4-E93C-0E5F2C48DC7D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19" name="Shape 10">
                <a:extLst>
                  <a:ext uri="{FF2B5EF4-FFF2-40B4-BE49-F238E27FC236}">
                    <a16:creationId xmlns:a16="http://schemas.microsoft.com/office/drawing/2014/main" id="{BDCCD58A-D335-CAF1-D786-1D0644621BF5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14BBEEF-E73B-4AA1-55A9-4C2D1F86F1CE}"/>
              </a:ext>
            </a:extLst>
          </p:cNvPr>
          <p:cNvSpPr txBox="1"/>
          <p:nvPr/>
        </p:nvSpPr>
        <p:spPr>
          <a:xfrm>
            <a:off x="9903741" y="5192104"/>
            <a:ext cx="1953799" cy="802784"/>
          </a:xfrm>
          <a:prstGeom prst="rect">
            <a:avLst/>
          </a:prstGeom>
        </p:spPr>
        <p:txBody>
          <a:bodyPr vert="horz" wrap="square" lIns="0" tIns="91440" rIns="91440" bIns="91440" rtlCol="0" anchor="b">
            <a:spAutoFit/>
          </a:bodyPr>
          <a:lstStyle>
            <a:lvl1pPr indent="0" defTabSz="914377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SzPct val="110000"/>
              <a:buFont typeface="Arial" panose="020B0604020202020204" pitchFamily="34" charset="0"/>
              <a:buNone/>
              <a:tabLst/>
              <a:defRPr sz="2133" b="0">
                <a:solidFill>
                  <a:schemeClr val="bg2"/>
                </a:solidFill>
                <a:latin typeface="Poppins"/>
                <a:cs typeface="Poppins"/>
                <a:sym typeface="Arial" panose="020B0604020202020204" pitchFamily="34" charset="0"/>
              </a:defRPr>
            </a:lvl1pPr>
            <a:lvl2pPr marL="457189" indent="0" algn="ctr" defTabSz="914377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Font typeface="Courier New" panose="02070309020205020404" pitchFamily="49" charset="0"/>
              <a:buNone/>
              <a:tabLst/>
              <a:defRPr sz="2000"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2pPr>
            <a:lvl3pPr marL="914377" indent="0" algn="ctr" defTabSz="914377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000000"/>
              </a:buClr>
              <a:buFont typeface="Wingdings" pitchFamily="2" charset="2"/>
              <a:buNone/>
              <a:tabLst/>
              <a:defRPr>
                <a:latin typeface="Poppins" pitchFamily="2" charset="77"/>
                <a:cs typeface="Poppins" pitchFamily="2" charset="77"/>
                <a:sym typeface="Arial" panose="020B0604020202020204" pitchFamily="34" charset="0"/>
              </a:defRPr>
            </a:lvl3pPr>
            <a:lvl4pPr marL="1371566" indent="0" algn="ctr" defTabSz="914377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Font typeface="Courier New" panose="02070309020205020404" pitchFamily="49" charset="0"/>
              <a:buNone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828754" indent="0" algn="ctr" defTabSz="914377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Font typeface="Arial" panose="020B0604020202020204" pitchFamily="34" charset="0"/>
              <a:buNone/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5943" indent="0" algn="ctr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marL="2743131" indent="0" algn="ctr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marL="3200320" indent="0" algn="ctr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marL="3657509" indent="0" algn="ctr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ctr"/>
            <a:r>
              <a:rPr lang="en-US" sz="1800"/>
              <a:t>team4ever</a:t>
            </a:r>
          </a:p>
          <a:p>
            <a:pPr algn="ctr"/>
            <a:r>
              <a:rPr lang="en-US" sz="1800"/>
              <a:t>August 12, 2026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61CAABB-915C-DE91-F47D-B6BA44B0A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9980" y="6079685"/>
            <a:ext cx="2301320" cy="51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8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E05F735-55EF-5D4F-4B6C-3A0133A165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405" progId="TCLayout.ActiveDocument.1">
                  <p:embed/>
                </p:oleObj>
              </mc:Choice>
              <mc:Fallback>
                <p:oleObj name="think-cell Slide" r:id="rId3" imgW="405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05F735-55EF-5D4F-4B6C-3A0133A165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480C52-7766-681F-5F1E-514A50DE9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069B9-BB78-45EE-A327-B5E08C3C1DB1}" type="slidenum">
              <a:rPr kumimoji="0" lang="en-IN" sz="933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933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275481-CF9A-02F5-A624-AF14ABB3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 vert="horz" rIns="0"/>
          <a:lstStyle/>
          <a:p>
            <a:r>
              <a:rPr lang="en-IN"/>
              <a:t>Agenda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01C2F3-9A72-ECD4-FD93-D2F5CF7DA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63299"/>
              </p:ext>
            </p:extLst>
          </p:nvPr>
        </p:nvGraphicFramePr>
        <p:xfrm>
          <a:off x="359663" y="1256125"/>
          <a:ext cx="11221429" cy="444432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976456">
                  <a:extLst>
                    <a:ext uri="{9D8B030D-6E8A-4147-A177-3AD203B41FA5}">
                      <a16:colId xmlns:a16="http://schemas.microsoft.com/office/drawing/2014/main" val="3237958655"/>
                    </a:ext>
                  </a:extLst>
                </a:gridCol>
                <a:gridCol w="1869094">
                  <a:extLst>
                    <a:ext uri="{9D8B030D-6E8A-4147-A177-3AD203B41FA5}">
                      <a16:colId xmlns:a16="http://schemas.microsoft.com/office/drawing/2014/main" val="1330829013"/>
                    </a:ext>
                  </a:extLst>
                </a:gridCol>
                <a:gridCol w="8375879">
                  <a:extLst>
                    <a:ext uri="{9D8B030D-6E8A-4147-A177-3AD203B41FA5}">
                      <a16:colId xmlns:a16="http://schemas.microsoft.com/office/drawing/2014/main" val="3809959796"/>
                    </a:ext>
                  </a:extLst>
                </a:gridCol>
              </a:tblGrid>
              <a:tr h="1111082">
                <a:tc>
                  <a:txBody>
                    <a:bodyPr/>
                    <a:lstStyle/>
                    <a:p>
                      <a:pPr algn="ctr"/>
                      <a:r>
                        <a:rPr lang="en-IN" sz="3200" i="1"/>
                        <a:t>1</a:t>
                      </a:r>
                    </a:p>
                  </a:txBody>
                  <a:tcPr marT="31324" marB="313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Context</a:t>
                      </a:r>
                    </a:p>
                  </a:txBody>
                  <a:tcPr marT="31324" marB="3132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The value of Orbit and the pain points we’re solving</a:t>
                      </a:r>
                    </a:p>
                  </a:txBody>
                  <a:tcPr marT="31324" marB="31324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02307385"/>
                  </a:ext>
                </a:extLst>
              </a:tr>
              <a:tr h="1111082">
                <a:tc>
                  <a:txBody>
                    <a:bodyPr/>
                    <a:lstStyle/>
                    <a:p>
                      <a:pPr algn="ctr"/>
                      <a:r>
                        <a:rPr lang="en-IN" sz="3200" i="1"/>
                        <a:t>2</a:t>
                      </a:r>
                    </a:p>
                  </a:txBody>
                  <a:tcPr marT="31324" marB="313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Approach</a:t>
                      </a:r>
                    </a:p>
                  </a:txBody>
                  <a:tcPr marT="31324" marB="31324"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/>
                        <a:t>Translating today’s analog processes into Orbit’s AI-enabled solution</a:t>
                      </a:r>
                    </a:p>
                  </a:txBody>
                  <a:tcPr marT="31324" marB="31324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34829253"/>
                  </a:ext>
                </a:extLst>
              </a:tr>
              <a:tr h="1111082">
                <a:tc>
                  <a:txBody>
                    <a:bodyPr/>
                    <a:lstStyle/>
                    <a:p>
                      <a:pPr algn="ctr"/>
                      <a:r>
                        <a:rPr lang="en-IN" sz="3200" i="1"/>
                        <a:t>3</a:t>
                      </a:r>
                    </a:p>
                  </a:txBody>
                  <a:tcPr marT="31324" marB="313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Solution</a:t>
                      </a:r>
                    </a:p>
                  </a:txBody>
                  <a:tcPr marT="31324" marB="31324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Key workflows and features for workshop facilitators and their teams</a:t>
                      </a:r>
                    </a:p>
                  </a:txBody>
                  <a:tcPr marT="31324" marB="31324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61167708"/>
                  </a:ext>
                </a:extLst>
              </a:tr>
              <a:tr h="1111082">
                <a:tc>
                  <a:txBody>
                    <a:bodyPr/>
                    <a:lstStyle/>
                    <a:p>
                      <a:pPr algn="ctr"/>
                      <a:r>
                        <a:rPr lang="en-IN" sz="3200" i="1"/>
                        <a:t>4</a:t>
                      </a:r>
                    </a:p>
                  </a:txBody>
                  <a:tcPr marT="31324" marB="3132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Next Steps</a:t>
                      </a:r>
                    </a:p>
                  </a:txBody>
                  <a:tcPr marT="31324" marB="31324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Path to market, reusability, requirements roadmap, risks, success measures</a:t>
                      </a:r>
                    </a:p>
                  </a:txBody>
                  <a:tcPr marT="31324" marB="31324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933159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0DD0B6C1-8F6E-118A-41D8-893B7DFAB5BE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20" name="Circle: Hollow 19">
              <a:extLst>
                <a:ext uri="{FF2B5EF4-FFF2-40B4-BE49-F238E27FC236}">
                  <a16:creationId xmlns:a16="http://schemas.microsoft.com/office/drawing/2014/main" id="{16AE4224-5E35-B630-B81F-6EE2C308ECB3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D06D9A8-8167-3C24-86F9-25D07ACA1DF4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22" name="Shape 3">
                <a:extLst>
                  <a:ext uri="{FF2B5EF4-FFF2-40B4-BE49-F238E27FC236}">
                    <a16:creationId xmlns:a16="http://schemas.microsoft.com/office/drawing/2014/main" id="{1267B728-9540-A1AF-E9F8-DF2802920CA6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3" name="Shape 4">
                <a:extLst>
                  <a:ext uri="{FF2B5EF4-FFF2-40B4-BE49-F238E27FC236}">
                    <a16:creationId xmlns:a16="http://schemas.microsoft.com/office/drawing/2014/main" id="{15546A94-D49C-C578-BF37-98BBE95136C4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4" name="Shape 5">
                <a:extLst>
                  <a:ext uri="{FF2B5EF4-FFF2-40B4-BE49-F238E27FC236}">
                    <a16:creationId xmlns:a16="http://schemas.microsoft.com/office/drawing/2014/main" id="{D0220C58-D5E6-B0FA-4E76-773381CC8FC5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5" name="Shape 6">
                <a:extLst>
                  <a:ext uri="{FF2B5EF4-FFF2-40B4-BE49-F238E27FC236}">
                    <a16:creationId xmlns:a16="http://schemas.microsoft.com/office/drawing/2014/main" id="{307006EA-0919-FF95-5511-72BD53443825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6" name="Shape 7">
                <a:extLst>
                  <a:ext uri="{FF2B5EF4-FFF2-40B4-BE49-F238E27FC236}">
                    <a16:creationId xmlns:a16="http://schemas.microsoft.com/office/drawing/2014/main" id="{E516E605-9C31-E601-6994-D99E887B802C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7" name="Shape 10">
                <a:extLst>
                  <a:ext uri="{FF2B5EF4-FFF2-40B4-BE49-F238E27FC236}">
                    <a16:creationId xmlns:a16="http://schemas.microsoft.com/office/drawing/2014/main" id="{9352EB5B-9283-733E-ADD0-95CBC7980C06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271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8859-645C-E439-0A64-90C40CAA8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8AD2B-DAB6-5663-98A0-CABA52E26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30D734-15EC-0187-11E8-57008BD5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/>
          <a:lstStyle/>
          <a:p>
            <a:r>
              <a:rPr lang="en-IN" i="1" u="sng"/>
              <a:t>Context:</a:t>
            </a:r>
            <a:r>
              <a:rPr lang="en-IN"/>
              <a:t> Today, workshop facilitators manage multiple discussion threads and activities without live support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19B0811-8E10-6A46-6DF1-307174A5938A}"/>
              </a:ext>
            </a:extLst>
          </p:cNvPr>
          <p:cNvGrpSpPr/>
          <p:nvPr/>
        </p:nvGrpSpPr>
        <p:grpSpPr>
          <a:xfrm>
            <a:off x="3626883" y="4463391"/>
            <a:ext cx="8204594" cy="1818139"/>
            <a:chOff x="359663" y="4666107"/>
            <a:chExt cx="11484262" cy="1072382"/>
          </a:xfrm>
        </p:grpSpPr>
        <p:sp>
          <p:nvSpPr>
            <p:cNvPr id="49" name="lbl3">
              <a:extLst>
                <a:ext uri="{FF2B5EF4-FFF2-40B4-BE49-F238E27FC236}">
                  <a16:creationId xmlns:a16="http://schemas.microsoft.com/office/drawing/2014/main" id="{D50ECDA4-E768-290B-B467-9534517AB89D}"/>
                </a:ext>
              </a:extLst>
            </p:cNvPr>
            <p:cNvSpPr/>
            <p:nvPr/>
          </p:nvSpPr>
          <p:spPr>
            <a:xfrm>
              <a:off x="359663" y="4666107"/>
              <a:ext cx="11484262" cy="2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45720" rIns="0" bIns="45720" anchor="t">
              <a:noAutofit/>
            </a:bodyPr>
            <a:lstStyle/>
            <a:p>
              <a:pPr algn="l"/>
              <a:r>
                <a:rPr lang="en-US" sz="1200" b="1" spc="200">
                  <a:solidFill>
                    <a:srgbClr val="00A7B5"/>
                  </a:solidFill>
                  <a:latin typeface="Poppins"/>
                  <a:cs typeface="Poppins"/>
                </a:rPr>
                <a:t>SOLUTION VALUE</a:t>
              </a:r>
            </a:p>
          </p:txBody>
        </p:sp>
        <p:sp>
          <p:nvSpPr>
            <p:cNvPr id="53" name="val0">
              <a:extLst>
                <a:ext uri="{FF2B5EF4-FFF2-40B4-BE49-F238E27FC236}">
                  <a16:creationId xmlns:a16="http://schemas.microsoft.com/office/drawing/2014/main" id="{DEE3ADEF-74E6-59E9-AC8B-6206849D8EB9}"/>
                </a:ext>
              </a:extLst>
            </p:cNvPr>
            <p:cNvSpPr/>
            <p:nvPr/>
          </p:nvSpPr>
          <p:spPr>
            <a:xfrm>
              <a:off x="359663" y="4818889"/>
              <a:ext cx="5538246" cy="919600"/>
            </a:xfrm>
            <a:prstGeom prst="rect">
              <a:avLst/>
            </a:prstGeom>
            <a:solidFill>
              <a:srgbClr val="F0FBFC"/>
            </a:solidFill>
            <a:ln w="12700"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l"/>
              <a:r>
                <a:rPr lang="en-US" sz="1200" b="1" spc="0">
                  <a:solidFill>
                    <a:srgbClr val="06364A"/>
                  </a:solidFill>
                  <a:latin typeface="Poppins"/>
                  <a:cs typeface="Poppins"/>
                </a:rPr>
                <a:t>For clients</a:t>
              </a:r>
            </a:p>
            <a:p>
              <a:pPr marL="171450" indent="-171450" algn="l">
                <a:buFont typeface="Wingdings" panose="05000000000000000000" pitchFamily="2" charset="2"/>
                <a:buChar char="ü"/>
              </a:pPr>
              <a:r>
                <a:rPr lang="en-US" sz="1200" b="0" spc="0">
                  <a:solidFill>
                    <a:srgbClr val="375467"/>
                  </a:solidFill>
                  <a:latin typeface="Poppins"/>
                  <a:cs typeface="Poppins"/>
                </a:rPr>
                <a:t>Faster in-workshop alignment</a:t>
              </a:r>
            </a:p>
            <a:p>
              <a:pPr marL="171450" indent="-171450" algn="l">
                <a:buFont typeface="Wingdings" panose="05000000000000000000" pitchFamily="2" charset="2"/>
                <a:buChar char="ü"/>
              </a:pPr>
              <a:r>
                <a:rPr lang="en-US" sz="1200" b="0" spc="0">
                  <a:solidFill>
                    <a:srgbClr val="375467"/>
                  </a:solidFill>
                  <a:latin typeface="Poppins"/>
                  <a:cs typeface="Poppins"/>
                </a:rPr>
                <a:t>No more lost discussion</a:t>
              </a:r>
            </a:p>
            <a:p>
              <a:pPr marL="171450" indent="-171450" algn="l">
                <a:buFont typeface="Wingdings" panose="05000000000000000000" pitchFamily="2" charset="2"/>
                <a:buChar char="ü"/>
              </a:pPr>
              <a:r>
                <a:rPr lang="en-US" sz="1200">
                  <a:solidFill>
                    <a:srgbClr val="375467"/>
                  </a:solidFill>
                  <a:latin typeface="Poppins"/>
                  <a:cs typeface="Poppins"/>
                </a:rPr>
                <a:t>Decisions captured live</a:t>
              </a:r>
            </a:p>
            <a:p>
              <a:pPr marL="171450" indent="-171450" algn="l">
                <a:buFont typeface="Wingdings" panose="05000000000000000000" pitchFamily="2" charset="2"/>
                <a:buChar char="ü"/>
              </a:pPr>
              <a:r>
                <a:rPr lang="en-US" sz="1200" b="0" spc="0">
                  <a:solidFill>
                    <a:srgbClr val="375467"/>
                  </a:solidFill>
                  <a:latin typeface="Poppins"/>
                  <a:cs typeface="Poppins"/>
                </a:rPr>
                <a:t>Quicker turnaround time to workshop</a:t>
              </a:r>
            </a:p>
          </p:txBody>
        </p:sp>
        <p:sp>
          <p:nvSpPr>
            <p:cNvPr id="32" name="val0">
              <a:extLst>
                <a:ext uri="{FF2B5EF4-FFF2-40B4-BE49-F238E27FC236}">
                  <a16:creationId xmlns:a16="http://schemas.microsoft.com/office/drawing/2014/main" id="{DEF10EC0-6509-576F-10FE-772D3300660B}"/>
                </a:ext>
              </a:extLst>
            </p:cNvPr>
            <p:cNvSpPr/>
            <p:nvPr/>
          </p:nvSpPr>
          <p:spPr>
            <a:xfrm>
              <a:off x="6305679" y="4818889"/>
              <a:ext cx="5538246" cy="919600"/>
            </a:xfrm>
            <a:prstGeom prst="rect">
              <a:avLst/>
            </a:prstGeom>
            <a:solidFill>
              <a:srgbClr val="F0FBFC"/>
            </a:solidFill>
            <a:ln w="12700"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sz="1200" b="1">
                  <a:solidFill>
                    <a:srgbClr val="06364A"/>
                  </a:solidFill>
                  <a:cs typeface="Poppins"/>
                </a:rPr>
                <a:t>For Aberdeen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1200">
                  <a:solidFill>
                    <a:srgbClr val="375467"/>
                  </a:solidFill>
                  <a:latin typeface="Poppins"/>
                  <a:cs typeface="Poppins"/>
                </a:rPr>
                <a:t>Augmented, intelligent facilitator support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1200">
                  <a:solidFill>
                    <a:srgbClr val="375467"/>
                  </a:solidFill>
                  <a:latin typeface="Poppins"/>
                  <a:cs typeface="Poppins"/>
                </a:rPr>
                <a:t>Insights based on live discussion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1200">
                  <a:solidFill>
                    <a:srgbClr val="375467"/>
                  </a:solidFill>
                  <a:latin typeface="Poppins"/>
                  <a:cs typeface="Poppins"/>
                </a:rPr>
                <a:t>More thorough preparation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1200">
                  <a:solidFill>
                    <a:srgbClr val="375467"/>
                  </a:solidFill>
                  <a:latin typeface="Poppins"/>
                  <a:cs typeface="Poppins"/>
                </a:rPr>
                <a:t>Leaner travel teams</a:t>
              </a:r>
            </a:p>
          </p:txBody>
        </p:sp>
      </p:grpSp>
      <p:sp>
        <p:nvSpPr>
          <p:cNvPr id="27" name="lbl1">
            <a:extLst>
              <a:ext uri="{FF2B5EF4-FFF2-40B4-BE49-F238E27FC236}">
                <a16:creationId xmlns:a16="http://schemas.microsoft.com/office/drawing/2014/main" id="{94C4E16F-78AF-A462-15DE-31FBFF3015F0}"/>
              </a:ext>
            </a:extLst>
          </p:cNvPr>
          <p:cNvSpPr/>
          <p:nvPr/>
        </p:nvSpPr>
        <p:spPr>
          <a:xfrm>
            <a:off x="3538329" y="1627931"/>
            <a:ext cx="3584693" cy="35777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pPr algn="l"/>
            <a:r>
              <a:rPr lang="en-US" sz="1200" b="1" spc="200">
                <a:solidFill>
                  <a:srgbClr val="00A7B5"/>
                </a:solidFill>
                <a:latin typeface="Poppins"/>
                <a:cs typeface="Poppins"/>
              </a:rPr>
              <a:t>CURRENT STATE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698D5E-7909-EE36-EEF1-041560B6263B}"/>
              </a:ext>
            </a:extLst>
          </p:cNvPr>
          <p:cNvGrpSpPr/>
          <p:nvPr/>
        </p:nvGrpSpPr>
        <p:grpSpPr>
          <a:xfrm>
            <a:off x="3538329" y="1970598"/>
            <a:ext cx="8293148" cy="2082094"/>
            <a:chOff x="3538329" y="2166909"/>
            <a:chExt cx="8293148" cy="16894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F7D32A-DFD1-B364-84DE-8DCEEA0837E0}"/>
                </a:ext>
              </a:extLst>
            </p:cNvPr>
            <p:cNvSpPr/>
            <p:nvPr/>
          </p:nvSpPr>
          <p:spPr>
            <a:xfrm>
              <a:off x="3538329" y="2166909"/>
              <a:ext cx="3815665" cy="3606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Competing perspectives in live discussions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138AE5-F152-2D19-A3EB-8A190B1A3EDB}"/>
                </a:ext>
              </a:extLst>
            </p:cNvPr>
            <p:cNvSpPr/>
            <p:nvPr/>
          </p:nvSpPr>
          <p:spPr>
            <a:xfrm>
              <a:off x="3538329" y="2609844"/>
              <a:ext cx="3815665" cy="3606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Tedious workshop design from scratch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166E67-82CE-7C12-6441-8B94F74222C9}"/>
                </a:ext>
              </a:extLst>
            </p:cNvPr>
            <p:cNvSpPr/>
            <p:nvPr/>
          </p:nvSpPr>
          <p:spPr>
            <a:xfrm>
              <a:off x="3538329" y="3052777"/>
              <a:ext cx="3815665" cy="3606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Complex facilitation &amp; simultaneous inputs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A91D81-0B94-1828-DA12-C1CE8D10CC77}"/>
                </a:ext>
              </a:extLst>
            </p:cNvPr>
            <p:cNvSpPr/>
            <p:nvPr/>
          </p:nvSpPr>
          <p:spPr>
            <a:xfrm>
              <a:off x="3538329" y="3495712"/>
              <a:ext cx="3815665" cy="3606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Manual discussion tracking with multiple team members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0445C4-3788-C7C7-0DC3-18BF7FED72C4}"/>
                </a:ext>
              </a:extLst>
            </p:cNvPr>
            <p:cNvGrpSpPr/>
            <p:nvPr/>
          </p:nvGrpSpPr>
          <p:grpSpPr>
            <a:xfrm>
              <a:off x="7518547" y="2224061"/>
              <a:ext cx="332712" cy="1575144"/>
              <a:chOff x="7410578" y="2236552"/>
              <a:chExt cx="561097" cy="1056628"/>
            </a:xfrm>
            <a:solidFill>
              <a:schemeClr val="bg1">
                <a:lumMod val="85000"/>
              </a:schemeClr>
            </a:solidFill>
          </p:grpSpPr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98A72C4B-1BA0-5C64-7B9C-0754D02E315C}"/>
                  </a:ext>
                </a:extLst>
              </p:cNvPr>
              <p:cNvSpPr/>
              <p:nvPr/>
            </p:nvSpPr>
            <p:spPr>
              <a:xfrm>
                <a:off x="7410578" y="2236552"/>
                <a:ext cx="561097" cy="16524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EEDCAC87-90AF-57B7-9F4C-7F3B3E9B52EF}"/>
                  </a:ext>
                </a:extLst>
              </p:cNvPr>
              <p:cNvSpPr/>
              <p:nvPr/>
            </p:nvSpPr>
            <p:spPr>
              <a:xfrm>
                <a:off x="7410578" y="2533679"/>
                <a:ext cx="561097" cy="16524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" name="Arrow: Right 17">
                <a:extLst>
                  <a:ext uri="{FF2B5EF4-FFF2-40B4-BE49-F238E27FC236}">
                    <a16:creationId xmlns:a16="http://schemas.microsoft.com/office/drawing/2014/main" id="{11959FDC-093C-C65E-60BC-33001DE58392}"/>
                  </a:ext>
                </a:extLst>
              </p:cNvPr>
              <p:cNvSpPr/>
              <p:nvPr/>
            </p:nvSpPr>
            <p:spPr>
              <a:xfrm>
                <a:off x="7410578" y="2830805"/>
                <a:ext cx="561097" cy="16524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6C4D5B8-DE7D-A0EC-3729-F89562955F7A}"/>
                  </a:ext>
                </a:extLst>
              </p:cNvPr>
              <p:cNvSpPr/>
              <p:nvPr/>
            </p:nvSpPr>
            <p:spPr>
              <a:xfrm>
                <a:off x="7410578" y="3127931"/>
                <a:ext cx="561097" cy="165249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A45413-1161-84A5-456E-A86FB70B83CE}"/>
                </a:ext>
              </a:extLst>
            </p:cNvPr>
            <p:cNvSpPr/>
            <p:nvPr/>
          </p:nvSpPr>
          <p:spPr>
            <a:xfrm>
              <a:off x="8015812" y="2166909"/>
              <a:ext cx="3815665" cy="3606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1">
                  <a:solidFill>
                    <a:schemeClr val="tx1"/>
                  </a:solidFill>
                  <a:latin typeface="+mj-lt"/>
                </a:rPr>
                <a:t>Clear decision and action support, enabled by instant market and subject intelligence</a:t>
              </a:r>
              <a:endPara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B9D092-FC07-9A6E-CB6E-D6806BEAD493}"/>
                </a:ext>
              </a:extLst>
            </p:cNvPr>
            <p:cNvSpPr/>
            <p:nvPr/>
          </p:nvSpPr>
          <p:spPr>
            <a:xfrm>
              <a:off x="8015812" y="2609844"/>
              <a:ext cx="3815665" cy="3606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Accelerated workshop prep with reusable assets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AFC63C-14D1-6F4F-8886-2FC15362B1FA}"/>
                </a:ext>
              </a:extLst>
            </p:cNvPr>
            <p:cNvSpPr/>
            <p:nvPr/>
          </p:nvSpPr>
          <p:spPr>
            <a:xfrm>
              <a:off x="8015812" y="3052777"/>
              <a:ext cx="3815665" cy="3606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1">
                  <a:solidFill>
                    <a:schemeClr val="tx1"/>
                  </a:solidFill>
                  <a:latin typeface="+mj-lt"/>
                </a:rPr>
                <a:t>Supported facilitation and simplified information</a:t>
              </a:r>
              <a:endPara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6CA745-A6D8-795C-7E13-6A3918579E1C}"/>
                </a:ext>
              </a:extLst>
            </p:cNvPr>
            <p:cNvSpPr/>
            <p:nvPr/>
          </p:nvSpPr>
          <p:spPr>
            <a:xfrm>
              <a:off x="8015812" y="3495712"/>
              <a:ext cx="3815665" cy="3606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Comprehensive parking lot, decisions, risks and actions captured live</a:t>
              </a:r>
            </a:p>
          </p:txBody>
        </p:sp>
      </p:grpSp>
      <p:sp>
        <p:nvSpPr>
          <p:cNvPr id="30" name="lbl1">
            <a:extLst>
              <a:ext uri="{FF2B5EF4-FFF2-40B4-BE49-F238E27FC236}">
                <a16:creationId xmlns:a16="http://schemas.microsoft.com/office/drawing/2014/main" id="{15BC488E-844A-7D7F-40DD-C91320BFDAAC}"/>
              </a:ext>
            </a:extLst>
          </p:cNvPr>
          <p:cNvSpPr/>
          <p:nvPr/>
        </p:nvSpPr>
        <p:spPr>
          <a:xfrm>
            <a:off x="8015813" y="1627931"/>
            <a:ext cx="3584693" cy="357775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>
            <a:noAutofit/>
          </a:bodyPr>
          <a:lstStyle/>
          <a:p>
            <a:r>
              <a:rPr lang="en-US" sz="1200" b="1" spc="200">
                <a:solidFill>
                  <a:srgbClr val="00A7B5"/>
                </a:solidFill>
                <a:cs typeface="Poppins"/>
              </a:rPr>
              <a:t>FUTURE STATE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84F960-BE22-E016-38F8-DB20EB0A9135}"/>
              </a:ext>
            </a:extLst>
          </p:cNvPr>
          <p:cNvCxnSpPr>
            <a:cxnSpLocks/>
          </p:cNvCxnSpPr>
          <p:nvPr/>
        </p:nvCxnSpPr>
        <p:spPr>
          <a:xfrm>
            <a:off x="359663" y="4323522"/>
            <a:ext cx="11388389" cy="0"/>
          </a:xfrm>
          <a:prstGeom prst="line">
            <a:avLst/>
          </a:prstGeom>
          <a:ln w="1905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4B26753-B557-AAE9-5BD8-B45DCC70A148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43" name="Circle: Hollow 42">
              <a:extLst>
                <a:ext uri="{FF2B5EF4-FFF2-40B4-BE49-F238E27FC236}">
                  <a16:creationId xmlns:a16="http://schemas.microsoft.com/office/drawing/2014/main" id="{B485E769-911E-208A-7C7B-5F1E6BC641D5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C49E6ED-BD00-A963-94EB-BCDABC2EDCA3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45" name="Shape 3">
                <a:extLst>
                  <a:ext uri="{FF2B5EF4-FFF2-40B4-BE49-F238E27FC236}">
                    <a16:creationId xmlns:a16="http://schemas.microsoft.com/office/drawing/2014/main" id="{CBC32426-B42E-08B6-430C-26EE49A07171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6" name="Shape 4">
                <a:extLst>
                  <a:ext uri="{FF2B5EF4-FFF2-40B4-BE49-F238E27FC236}">
                    <a16:creationId xmlns:a16="http://schemas.microsoft.com/office/drawing/2014/main" id="{2CD98400-AF86-7A2F-1035-AEFF1DA2753D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7" name="Shape 5">
                <a:extLst>
                  <a:ext uri="{FF2B5EF4-FFF2-40B4-BE49-F238E27FC236}">
                    <a16:creationId xmlns:a16="http://schemas.microsoft.com/office/drawing/2014/main" id="{B35FB97B-8E36-8021-D8B6-E1A65D9A3E6F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8" name="Shape 6">
                <a:extLst>
                  <a:ext uri="{FF2B5EF4-FFF2-40B4-BE49-F238E27FC236}">
                    <a16:creationId xmlns:a16="http://schemas.microsoft.com/office/drawing/2014/main" id="{FB2C3C7E-9708-F0E4-FEB9-4AEB69110017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0" name="Shape 7">
                <a:extLst>
                  <a:ext uri="{FF2B5EF4-FFF2-40B4-BE49-F238E27FC236}">
                    <a16:creationId xmlns:a16="http://schemas.microsoft.com/office/drawing/2014/main" id="{22BF844D-CB9B-7520-423D-D273FBBC0C17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1" name="Shape 10">
                <a:extLst>
                  <a:ext uri="{FF2B5EF4-FFF2-40B4-BE49-F238E27FC236}">
                    <a16:creationId xmlns:a16="http://schemas.microsoft.com/office/drawing/2014/main" id="{1DCD3DF3-7793-9533-4B39-AF20866ADB34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8C4DC8D-1231-F3A9-025D-FC25D60B246D}"/>
              </a:ext>
            </a:extLst>
          </p:cNvPr>
          <p:cNvSpPr/>
          <p:nvPr/>
        </p:nvSpPr>
        <p:spPr>
          <a:xfrm>
            <a:off x="359664" y="1421296"/>
            <a:ext cx="2989824" cy="4999382"/>
          </a:xfrm>
          <a:prstGeom prst="rect">
            <a:avLst/>
          </a:prstGeom>
          <a:solidFill>
            <a:srgbClr val="D9F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sz="1600" b="1" spc="200">
                <a:solidFill>
                  <a:schemeClr val="bg2"/>
                </a:solidFill>
                <a:cs typeface="Poppins"/>
              </a:rPr>
              <a:t>THE CHALLENGE</a:t>
            </a:r>
          </a:p>
          <a:p>
            <a:pPr>
              <a:defRPr/>
            </a:pPr>
            <a:endParaRPr lang="en-US" sz="1600" b="1" spc="200">
              <a:solidFill>
                <a:schemeClr val="bg2"/>
              </a:solidFill>
              <a:cs typeface="Poppin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9375F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Develop an AI co-facilitator that creates workshop agenda and materials, synthesizes discussion, surfaces disagreements, suggests follow-up questions, supports interactive exercise, and produces a client-ready readout and action plan. This should support a cross-functional leadership workshop focused on patient intake redesign.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1600">
              <a:solidFill>
                <a:srgbClr val="09375F"/>
              </a:solidFill>
              <a:latin typeface="Poppin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1600">
              <a:solidFill>
                <a:srgbClr val="09375F"/>
              </a:solidFill>
              <a:latin typeface="Poppin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N" sz="1600">
              <a:solidFill>
                <a:srgbClr val="09375F"/>
              </a:solidFill>
              <a:latin typeface="Poppins"/>
            </a:endParaRPr>
          </a:p>
          <a:p>
            <a:pPr>
              <a:defRPr/>
            </a:pPr>
            <a:r>
              <a:rPr lang="en-US" sz="1600" b="1" spc="200">
                <a:solidFill>
                  <a:schemeClr val="bg2"/>
                </a:solidFill>
                <a:cs typeface="Poppins"/>
              </a:rPr>
              <a:t>OUR SOLUTION</a:t>
            </a:r>
          </a:p>
          <a:p>
            <a:pPr>
              <a:defRPr/>
            </a:pPr>
            <a:endParaRPr lang="en-US" sz="1600" b="1" spc="200">
              <a:solidFill>
                <a:schemeClr val="bg2"/>
              </a:solidFill>
              <a:cs typeface="Poppins"/>
            </a:endParaRPr>
          </a:p>
          <a:p>
            <a:pPr>
              <a:defRPr/>
            </a:pPr>
            <a:r>
              <a:rPr lang="en-US" sz="1200">
                <a:solidFill>
                  <a:srgbClr val="09375F"/>
                </a:solidFill>
                <a:latin typeface="Poppins"/>
              </a:rPr>
              <a:t>We’ve developed </a:t>
            </a:r>
            <a:r>
              <a:rPr lang="en-US" sz="1200" b="1">
                <a:solidFill>
                  <a:srgbClr val="09375F"/>
                </a:solidFill>
                <a:latin typeface="Poppins"/>
              </a:rPr>
              <a:t>Or</a:t>
            </a:r>
            <a:r>
              <a:rPr lang="en-IN" sz="1200" b="1">
                <a:solidFill>
                  <a:srgbClr val="09375F"/>
                </a:solidFill>
                <a:latin typeface="Poppins"/>
              </a:rPr>
              <a:t>bit</a:t>
            </a:r>
            <a:r>
              <a:rPr lang="en-IN" sz="1200">
                <a:solidFill>
                  <a:srgbClr val="09375F"/>
                </a:solidFill>
                <a:latin typeface="Poppins"/>
              </a:rPr>
              <a:t> to support </a:t>
            </a:r>
            <a:r>
              <a:rPr lang="en-US" sz="1200">
                <a:solidFill>
                  <a:srgbClr val="09375F"/>
                </a:solidFill>
                <a:latin typeface="Poppins"/>
              </a:rPr>
              <a:t>the workshop lifecycle, allowing facilitators to focus on people, alignment, and outcomes instead of administrative overhead.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BB5915-6BE5-A488-08C9-7C3A5D32D37E}"/>
              </a:ext>
            </a:extLst>
          </p:cNvPr>
          <p:cNvGrpSpPr/>
          <p:nvPr/>
        </p:nvGrpSpPr>
        <p:grpSpPr>
          <a:xfrm>
            <a:off x="2323775" y="4360440"/>
            <a:ext cx="736926" cy="806288"/>
            <a:chOff x="1543571" y="593587"/>
            <a:chExt cx="3307562" cy="3618894"/>
          </a:xfrm>
        </p:grpSpPr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F0C24306-E488-66FA-E81D-317B6B41A1EE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5EE07F6-1B6A-6F26-4F6B-64A3E843F425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17" name="Shape 3">
                <a:extLst>
                  <a:ext uri="{FF2B5EF4-FFF2-40B4-BE49-F238E27FC236}">
                    <a16:creationId xmlns:a16="http://schemas.microsoft.com/office/drawing/2014/main" id="{655B35E4-DA82-6AB2-5B19-40097F03BA33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0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2408A659-9707-B175-F3D3-A5572D97F701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3" name="Shape 5">
                <a:extLst>
                  <a:ext uri="{FF2B5EF4-FFF2-40B4-BE49-F238E27FC236}">
                    <a16:creationId xmlns:a16="http://schemas.microsoft.com/office/drawing/2014/main" id="{783F6BCC-E140-534A-1C1C-AFD5F3CCE12A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5" name="Shape 6">
                <a:extLst>
                  <a:ext uri="{FF2B5EF4-FFF2-40B4-BE49-F238E27FC236}">
                    <a16:creationId xmlns:a16="http://schemas.microsoft.com/office/drawing/2014/main" id="{2A06EDF2-0639-6868-DF93-BB717BC4841E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6" name="Shape 7">
                <a:extLst>
                  <a:ext uri="{FF2B5EF4-FFF2-40B4-BE49-F238E27FC236}">
                    <a16:creationId xmlns:a16="http://schemas.microsoft.com/office/drawing/2014/main" id="{FB7CDCF2-2D96-12AD-91B6-61CBF8618A1B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9" name="Shape 10">
                <a:extLst>
                  <a:ext uri="{FF2B5EF4-FFF2-40B4-BE49-F238E27FC236}">
                    <a16:creationId xmlns:a16="http://schemas.microsoft.com/office/drawing/2014/main" id="{56333832-CF96-4E23-2417-1E525E1CBB52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858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F736-7A25-4506-84E1-62AB0FCD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523DDE-A662-3E18-8AC8-7964AC8CF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1CF9EB-DA41-FE85-2E62-5FB3A668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/>
              <a:t>Approach:</a:t>
            </a:r>
            <a:r>
              <a:rPr lang="en-IN" i="1"/>
              <a:t> </a:t>
            </a:r>
            <a:r>
              <a:rPr lang="en-IN" b="1"/>
              <a:t>Orbit</a:t>
            </a:r>
            <a:r>
              <a:rPr lang="en-IN"/>
              <a:t> facilitates alongside Aberdeen teams preparing for and delivering workshops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E31D61-A666-FF74-ED08-7215A79C0B57}"/>
              </a:ext>
            </a:extLst>
          </p:cNvPr>
          <p:cNvSpPr txBox="1"/>
          <p:nvPr/>
        </p:nvSpPr>
        <p:spPr>
          <a:xfrm>
            <a:off x="357179" y="1470444"/>
            <a:ext cx="3624617" cy="48829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ctr">
            <a:noAutofit/>
          </a:bodyPr>
          <a:lstStyle/>
          <a:p>
            <a:pPr>
              <a:spcAft>
                <a:spcPts val="1200"/>
              </a:spcAft>
            </a:pPr>
            <a:r>
              <a:rPr lang="en-IN" sz="1600" b="1" spc="200">
                <a:solidFill>
                  <a:schemeClr val="bg2"/>
                </a:solidFill>
                <a:cs typeface="Poppins"/>
              </a:rPr>
              <a:t>OUR APPROACH</a:t>
            </a: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IN" sz="1400" b="1">
                <a:latin typeface="Poppins"/>
                <a:cs typeface="Poppins"/>
              </a:rPr>
              <a:t>Defined the problem </a:t>
            </a:r>
            <a:r>
              <a:rPr lang="en-IN" sz="1400">
                <a:latin typeface="Poppins"/>
                <a:cs typeface="Poppins"/>
              </a:rPr>
              <a:t>and identified current pain points across the workshop flow – </a:t>
            </a:r>
            <a:r>
              <a:rPr lang="en-IN" sz="1400" i="1">
                <a:latin typeface="Poppins"/>
                <a:cs typeface="Poppins"/>
              </a:rPr>
              <a:t>plan, develop, facilitate, follow-through</a:t>
            </a:r>
            <a:endParaRPr lang="en-IN" sz="1400">
              <a:latin typeface="Poppins"/>
              <a:cs typeface="Poppins"/>
            </a:endParaRPr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IN" sz="1400" b="1"/>
              <a:t>Detailed the inputs and outputs for each workshop phase </a:t>
            </a:r>
            <a:r>
              <a:rPr lang="en-IN" sz="1400"/>
              <a:t>focused on </a:t>
            </a:r>
            <a:r>
              <a:rPr lang="en-IN" sz="1400" i="1"/>
              <a:t>improving the healthcare patient experience</a:t>
            </a:r>
            <a:endParaRPr lang="en-IN" sz="1400"/>
          </a:p>
          <a:p>
            <a:pPr marL="342900" indent="-342900">
              <a:spcAft>
                <a:spcPts val="1200"/>
              </a:spcAft>
              <a:buAutoNum type="arabicPeriod"/>
            </a:pPr>
            <a:r>
              <a:rPr lang="en-IN" sz="1400" b="1">
                <a:latin typeface="Poppins"/>
                <a:cs typeface="Poppins"/>
              </a:rPr>
              <a:t>Aligned on the roles Aberdeen plays </a:t>
            </a:r>
            <a:r>
              <a:rPr lang="en-IN" sz="1400">
                <a:latin typeface="Poppins"/>
                <a:cs typeface="Poppins"/>
              </a:rPr>
              <a:t>in a workshop to be augmented with our AI </a:t>
            </a:r>
            <a:r>
              <a:rPr lang="en-IN" sz="1400" i="1">
                <a:latin typeface="Poppins"/>
                <a:cs typeface="Poppins"/>
              </a:rPr>
              <a:t>virtual consulting team</a:t>
            </a:r>
          </a:p>
          <a:p>
            <a:pPr marL="342900" indent="-342900">
              <a:spcAft>
                <a:spcPts val="1200"/>
              </a:spcAft>
              <a:buFontTx/>
              <a:buAutoNum type="arabicPeriod"/>
            </a:pPr>
            <a:r>
              <a:rPr lang="en-IN" sz="1400" b="1">
                <a:cs typeface="Poppins"/>
              </a:rPr>
              <a:t>Created agents and designed the live facilitator interface</a:t>
            </a:r>
            <a:r>
              <a:rPr lang="en-IN" sz="1400">
                <a:cs typeface="Poppins"/>
              </a:rPr>
              <a:t>, keeping the human as the lead facilitator with </a:t>
            </a:r>
            <a:r>
              <a:rPr lang="en-IN" sz="1400" i="1">
                <a:cs typeface="Poppins"/>
              </a:rPr>
              <a:t>agents supporting to guide live discussion, synthesis, decisions, and deliverables</a:t>
            </a:r>
          </a:p>
        </p:txBody>
      </p:sp>
      <p:sp>
        <p:nvSpPr>
          <p:cNvPr id="200" name="ArchLabel">
            <a:extLst>
              <a:ext uri="{FF2B5EF4-FFF2-40B4-BE49-F238E27FC236}">
                <a16:creationId xmlns:a16="http://schemas.microsoft.com/office/drawing/2014/main" id="{B03A078A-D368-FB30-9F3D-9CAB87268B36}"/>
              </a:ext>
            </a:extLst>
          </p:cNvPr>
          <p:cNvSpPr/>
          <p:nvPr/>
        </p:nvSpPr>
        <p:spPr>
          <a:xfrm>
            <a:off x="4181582" y="1470444"/>
            <a:ext cx="756647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/>
            <a:r>
              <a:rPr lang="en-US" sz="1200" b="1">
                <a:solidFill>
                  <a:schemeClr val="accent1"/>
                </a:solidFill>
                <a:latin typeface="+mj-lt"/>
              </a:rPr>
              <a:t>CONCEPTUAL ARCHITECTURE</a:t>
            </a:r>
            <a:endParaRPr lang="en-US" sz="1200" b="1">
              <a:solidFill>
                <a:schemeClr val="accent1"/>
              </a:solidFill>
              <a:latin typeface="+mj-lt"/>
              <a:cs typeface="Poppins"/>
            </a:endParaRPr>
          </a:p>
        </p:txBody>
      </p:sp>
      <p:sp>
        <p:nvSpPr>
          <p:cNvPr id="201" name="HumanBand">
            <a:extLst>
              <a:ext uri="{FF2B5EF4-FFF2-40B4-BE49-F238E27FC236}">
                <a16:creationId xmlns:a16="http://schemas.microsoft.com/office/drawing/2014/main" id="{D2EEF13E-0E9E-30EA-D476-8B6EE9313811}"/>
              </a:ext>
            </a:extLst>
          </p:cNvPr>
          <p:cNvSpPr/>
          <p:nvPr/>
        </p:nvSpPr>
        <p:spPr>
          <a:xfrm>
            <a:off x="4181582" y="1750444"/>
            <a:ext cx="7566470" cy="3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b="1">
                <a:latin typeface="+mj-lt"/>
              </a:rPr>
              <a:t>HUMAN FACILITATOR | leads the room with objectives, judgment, decisions</a:t>
            </a:r>
          </a:p>
        </p:txBody>
      </p:sp>
      <p:sp>
        <p:nvSpPr>
          <p:cNvPr id="210" name="PhasePRE-WORKSHOP">
            <a:extLst>
              <a:ext uri="{FF2B5EF4-FFF2-40B4-BE49-F238E27FC236}">
                <a16:creationId xmlns:a16="http://schemas.microsoft.com/office/drawing/2014/main" id="{8ABC5363-8229-8FE6-7472-A4E86D560DB1}"/>
              </a:ext>
            </a:extLst>
          </p:cNvPr>
          <p:cNvSpPr/>
          <p:nvPr/>
        </p:nvSpPr>
        <p:spPr>
          <a:xfrm>
            <a:off x="4181582" y="2147038"/>
            <a:ext cx="2418790" cy="11790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68580" tIns="45720" rIns="68580" bIns="4572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+mj-lt"/>
              </a:rPr>
              <a:t>PRE-WORKSHOP</a:t>
            </a:r>
          </a:p>
          <a:p>
            <a:pPr algn="ctr"/>
            <a:endParaRPr lang="en-US" sz="1200" b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1200" b="0">
                <a:solidFill>
                  <a:schemeClr val="tx1"/>
                </a:solidFill>
                <a:latin typeface="+mj-lt"/>
              </a:rPr>
              <a:t>Objectives, agenda, exercises and pre-read</a:t>
            </a:r>
          </a:p>
        </p:txBody>
      </p:sp>
      <p:sp>
        <p:nvSpPr>
          <p:cNvPr id="211" name="PhaseIN-WORKSHOP">
            <a:extLst>
              <a:ext uri="{FF2B5EF4-FFF2-40B4-BE49-F238E27FC236}">
                <a16:creationId xmlns:a16="http://schemas.microsoft.com/office/drawing/2014/main" id="{19C13029-F9DE-B5EA-EEE4-2C66844C66D7}"/>
              </a:ext>
            </a:extLst>
          </p:cNvPr>
          <p:cNvSpPr/>
          <p:nvPr/>
        </p:nvSpPr>
        <p:spPr>
          <a:xfrm>
            <a:off x="6755422" y="2147038"/>
            <a:ext cx="2418790" cy="11790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68580" tIns="45720" rIns="68580" bIns="45720" anchor="ctr">
            <a:no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+mj-lt"/>
              </a:rPr>
              <a:t>IN-WORKSHOP</a:t>
            </a:r>
          </a:p>
          <a:p>
            <a:pPr algn="ctr"/>
            <a:r>
              <a:rPr lang="en-US" sz="1200" b="0">
                <a:solidFill>
                  <a:schemeClr val="tx1"/>
                </a:solidFill>
                <a:latin typeface="+mj-lt"/>
              </a:rPr>
              <a:t>Timing / flow, themes and disagreement, prompts,  decisions and parking lot</a:t>
            </a:r>
          </a:p>
        </p:txBody>
      </p:sp>
      <p:sp>
        <p:nvSpPr>
          <p:cNvPr id="212" name="PhasePOST-WORKSHOP">
            <a:extLst>
              <a:ext uri="{FF2B5EF4-FFF2-40B4-BE49-F238E27FC236}">
                <a16:creationId xmlns:a16="http://schemas.microsoft.com/office/drawing/2014/main" id="{5E8AAEA2-4610-8714-5611-3EB2BD4EE742}"/>
              </a:ext>
            </a:extLst>
          </p:cNvPr>
          <p:cNvSpPr/>
          <p:nvPr/>
        </p:nvSpPr>
        <p:spPr>
          <a:xfrm>
            <a:off x="9329262" y="2147038"/>
            <a:ext cx="2418790" cy="11790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68580" tIns="45720" rIns="68580" bIns="45720" anchor="ctr">
            <a:normAutofit/>
          </a:bodyPr>
          <a:lstStyle/>
          <a:p>
            <a:pPr algn="ctr"/>
            <a:r>
              <a:rPr lang="en-US" sz="1200" b="1">
                <a:solidFill>
                  <a:schemeClr val="accent1"/>
                </a:solidFill>
                <a:latin typeface="+mj-lt"/>
              </a:rPr>
              <a:t>POST-WORKSHOP</a:t>
            </a:r>
          </a:p>
          <a:p>
            <a:pPr algn="ctr"/>
            <a:endParaRPr lang="en-US" sz="1200" b="1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US" sz="1200" b="0">
                <a:solidFill>
                  <a:schemeClr val="tx1"/>
                </a:solidFill>
                <a:latin typeface="+mj-lt"/>
              </a:rPr>
              <a:t>Readout, summary and action plan</a:t>
            </a:r>
          </a:p>
        </p:txBody>
      </p:sp>
      <p:sp>
        <p:nvSpPr>
          <p:cNvPr id="230" name="OrchBand">
            <a:extLst>
              <a:ext uri="{FF2B5EF4-FFF2-40B4-BE49-F238E27FC236}">
                <a16:creationId xmlns:a16="http://schemas.microsoft.com/office/drawing/2014/main" id="{CA86E71C-D778-FAA3-DBF0-0583483E3B48}"/>
              </a:ext>
            </a:extLst>
          </p:cNvPr>
          <p:cNvSpPr/>
          <p:nvPr/>
        </p:nvSpPr>
        <p:spPr>
          <a:xfrm>
            <a:off x="4181582" y="3380212"/>
            <a:ext cx="7566470" cy="34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1200" b="1">
                <a:latin typeface="+mj-lt"/>
              </a:rPr>
              <a:t>ORCHESTRATOR  |  routes context between agents and consolidates one unified view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708277-99F1-460F-F04A-7BA9A0BCDB15}"/>
              </a:ext>
            </a:extLst>
          </p:cNvPr>
          <p:cNvGrpSpPr/>
          <p:nvPr/>
        </p:nvGrpSpPr>
        <p:grpSpPr>
          <a:xfrm>
            <a:off x="4272345" y="4287340"/>
            <a:ext cx="3400544" cy="612445"/>
            <a:chOff x="4272345" y="4364976"/>
            <a:chExt cx="3400544" cy="612445"/>
          </a:xfrm>
        </p:grpSpPr>
        <p:pic>
          <p:nvPicPr>
            <p:cNvPr id="34" name="Graphic 33" descr="Office worker female with solid fill">
              <a:extLst>
                <a:ext uri="{FF2B5EF4-FFF2-40B4-BE49-F238E27FC236}">
                  <a16:creationId xmlns:a16="http://schemas.microsoft.com/office/drawing/2014/main" id="{7F253038-83D1-0196-E95E-A7C0E0244F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345" y="4413121"/>
              <a:ext cx="516155" cy="516155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CADEED5-17C2-258B-CFC2-C708F81569E2}"/>
                </a:ext>
              </a:extLst>
            </p:cNvPr>
            <p:cNvSpPr/>
            <p:nvPr/>
          </p:nvSpPr>
          <p:spPr>
            <a:xfrm>
              <a:off x="4831145" y="4364976"/>
              <a:ext cx="2841744" cy="612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Workshop Planner</a:t>
              </a: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Scopes objectives, agenda and exercises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6836FB-C52D-CE00-71FF-A9247255BD84}"/>
              </a:ext>
            </a:extLst>
          </p:cNvPr>
          <p:cNvGrpSpPr/>
          <p:nvPr/>
        </p:nvGrpSpPr>
        <p:grpSpPr>
          <a:xfrm>
            <a:off x="4272345" y="5014811"/>
            <a:ext cx="3400767" cy="611776"/>
            <a:chOff x="4272345" y="5184827"/>
            <a:chExt cx="3400767" cy="611776"/>
          </a:xfrm>
        </p:grpSpPr>
        <p:pic>
          <p:nvPicPr>
            <p:cNvPr id="30" name="Graphic 29" descr="Head with gears with solid fill">
              <a:extLst>
                <a:ext uri="{FF2B5EF4-FFF2-40B4-BE49-F238E27FC236}">
                  <a16:creationId xmlns:a16="http://schemas.microsoft.com/office/drawing/2014/main" id="{DFF22512-7074-7C5D-3221-9EFAE6FA87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72345" y="5232638"/>
              <a:ext cx="516155" cy="516155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1A3F764-8BB3-F533-1DEF-788B725C14A2}"/>
                </a:ext>
              </a:extLst>
            </p:cNvPr>
            <p:cNvSpPr/>
            <p:nvPr/>
          </p:nvSpPr>
          <p:spPr>
            <a:xfrm>
              <a:off x="4831145" y="5184827"/>
              <a:ext cx="2841967" cy="611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Insight Agent</a:t>
              </a: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Surface themes, disagreement and consensus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346C7E-6F01-6C07-9AF0-D9357286D84D}"/>
              </a:ext>
            </a:extLst>
          </p:cNvPr>
          <p:cNvGrpSpPr/>
          <p:nvPr/>
        </p:nvGrpSpPr>
        <p:grpSpPr>
          <a:xfrm>
            <a:off x="4272345" y="5741614"/>
            <a:ext cx="3400767" cy="611776"/>
            <a:chOff x="4272345" y="5986966"/>
            <a:chExt cx="3400767" cy="611776"/>
          </a:xfrm>
        </p:grpSpPr>
        <p:pic>
          <p:nvPicPr>
            <p:cNvPr id="26" name="Graphic 25" descr="Projector screen with solid fill">
              <a:extLst>
                <a:ext uri="{FF2B5EF4-FFF2-40B4-BE49-F238E27FC236}">
                  <a16:creationId xmlns:a16="http://schemas.microsoft.com/office/drawing/2014/main" id="{F27F20F6-2926-A50F-A3C7-A40E928885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2345" y="6034777"/>
              <a:ext cx="516155" cy="51615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D04018-485E-E19B-67AE-FCBE9E92DBB9}"/>
                </a:ext>
              </a:extLst>
            </p:cNvPr>
            <p:cNvSpPr/>
            <p:nvPr/>
          </p:nvSpPr>
          <p:spPr>
            <a:xfrm>
              <a:off x="4831145" y="5986966"/>
              <a:ext cx="2841967" cy="611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Deliverable Agent</a:t>
              </a: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Builds readout, summary and action plan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0321D3-3D86-E69B-EBEF-1A2EF1F70D1F}"/>
              </a:ext>
            </a:extLst>
          </p:cNvPr>
          <p:cNvGrpSpPr/>
          <p:nvPr/>
        </p:nvGrpSpPr>
        <p:grpSpPr>
          <a:xfrm>
            <a:off x="8083983" y="4287340"/>
            <a:ext cx="3410059" cy="611776"/>
            <a:chOff x="7738927" y="4365310"/>
            <a:chExt cx="3410059" cy="611776"/>
          </a:xfrm>
        </p:grpSpPr>
        <p:pic>
          <p:nvPicPr>
            <p:cNvPr id="22" name="Graphic 21" descr="Playbook with solid fill">
              <a:extLst>
                <a:ext uri="{FF2B5EF4-FFF2-40B4-BE49-F238E27FC236}">
                  <a16:creationId xmlns:a16="http://schemas.microsoft.com/office/drawing/2014/main" id="{F91CFB3E-EA02-D7CB-5EA5-E42223B32A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38927" y="4413121"/>
              <a:ext cx="516155" cy="516155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4D8194B-D10E-5B1A-1130-FFAC14BC788E}"/>
                </a:ext>
              </a:extLst>
            </p:cNvPr>
            <p:cNvSpPr/>
            <p:nvPr/>
          </p:nvSpPr>
          <p:spPr>
            <a:xfrm>
              <a:off x="8297727" y="4365310"/>
              <a:ext cx="2851259" cy="611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Facilitator</a:t>
              </a: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Guides flow, time and transitions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430EA6-85AC-86AE-850A-69849147E9C3}"/>
              </a:ext>
            </a:extLst>
          </p:cNvPr>
          <p:cNvGrpSpPr/>
          <p:nvPr/>
        </p:nvGrpSpPr>
        <p:grpSpPr>
          <a:xfrm>
            <a:off x="8083983" y="5014477"/>
            <a:ext cx="3410059" cy="611776"/>
            <a:chOff x="7738927" y="5184827"/>
            <a:chExt cx="3410059" cy="611776"/>
          </a:xfrm>
        </p:grpSpPr>
        <p:pic>
          <p:nvPicPr>
            <p:cNvPr id="18" name="Graphic 17" descr="Blueprint with solid fill">
              <a:extLst>
                <a:ext uri="{FF2B5EF4-FFF2-40B4-BE49-F238E27FC236}">
                  <a16:creationId xmlns:a16="http://schemas.microsoft.com/office/drawing/2014/main" id="{B593D7F1-D088-BA87-6220-8A5691884B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38927" y="5232638"/>
              <a:ext cx="516155" cy="516155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532581D-8402-407C-1F80-567C10035E0C}"/>
                </a:ext>
              </a:extLst>
            </p:cNvPr>
            <p:cNvSpPr/>
            <p:nvPr/>
          </p:nvSpPr>
          <p:spPr>
            <a:xfrm>
              <a:off x="8297727" y="5184827"/>
              <a:ext cx="2851259" cy="611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Decision Agent</a:t>
              </a:r>
              <a:endParaRPr lang="en-US" sz="1200">
                <a:solidFill>
                  <a:schemeClr val="tx1"/>
                </a:solidFill>
                <a:latin typeface="+mj-lt"/>
              </a:endParaRP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Tracks decisions, questions and parking lot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A86EE1-85EA-E26C-A037-536E4DEAA005}"/>
              </a:ext>
            </a:extLst>
          </p:cNvPr>
          <p:cNvGrpSpPr/>
          <p:nvPr/>
        </p:nvGrpSpPr>
        <p:grpSpPr>
          <a:xfrm>
            <a:off x="8083983" y="5741614"/>
            <a:ext cx="3410059" cy="611776"/>
            <a:chOff x="7738927" y="5986966"/>
            <a:chExt cx="3410059" cy="611776"/>
          </a:xfrm>
        </p:grpSpPr>
        <p:pic>
          <p:nvPicPr>
            <p:cNvPr id="38" name="Graphic 37" descr="Doctor female with solid fill">
              <a:extLst>
                <a:ext uri="{FF2B5EF4-FFF2-40B4-BE49-F238E27FC236}">
                  <a16:creationId xmlns:a16="http://schemas.microsoft.com/office/drawing/2014/main" id="{C6ADB19C-93EC-A493-7E3E-F457DC880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38927" y="6034777"/>
              <a:ext cx="516155" cy="51615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18297A2-B2D5-F664-4C3B-3D471D202314}"/>
                </a:ext>
              </a:extLst>
            </p:cNvPr>
            <p:cNvSpPr/>
            <p:nvPr/>
          </p:nvSpPr>
          <p:spPr>
            <a:xfrm>
              <a:off x="8297727" y="5986966"/>
              <a:ext cx="2851259" cy="611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sz="1200" b="1">
                  <a:solidFill>
                    <a:schemeClr val="tx1"/>
                  </a:solidFill>
                  <a:latin typeface="+mj-lt"/>
                </a:rPr>
                <a:t>Subject Matter Expert</a:t>
              </a:r>
            </a:p>
            <a:p>
              <a:pPr>
                <a:defRPr/>
              </a:pPr>
              <a:r>
                <a:rPr lang="en-US" sz="1200">
                  <a:solidFill>
                    <a:schemeClr val="tx1"/>
                  </a:solidFill>
                  <a:latin typeface="+mj-lt"/>
                </a:rPr>
                <a:t>Provides swappable domain context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0B60A84-69AB-8B10-C2CF-14931129061B}"/>
              </a:ext>
            </a:extLst>
          </p:cNvPr>
          <p:cNvCxnSpPr>
            <a:cxnSpLocks/>
          </p:cNvCxnSpPr>
          <p:nvPr/>
        </p:nvCxnSpPr>
        <p:spPr>
          <a:xfrm>
            <a:off x="359663" y="3853779"/>
            <a:ext cx="11388389" cy="0"/>
          </a:xfrm>
          <a:prstGeom prst="line">
            <a:avLst/>
          </a:prstGeom>
          <a:ln w="19050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chLabel">
            <a:extLst>
              <a:ext uri="{FF2B5EF4-FFF2-40B4-BE49-F238E27FC236}">
                <a16:creationId xmlns:a16="http://schemas.microsoft.com/office/drawing/2014/main" id="{0051FFBA-AF2F-0525-2DAA-D473072AD4B6}"/>
              </a:ext>
            </a:extLst>
          </p:cNvPr>
          <p:cNvSpPr/>
          <p:nvPr/>
        </p:nvSpPr>
        <p:spPr>
          <a:xfrm>
            <a:off x="4181582" y="4015237"/>
            <a:ext cx="756647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/>
            <a:r>
              <a:rPr lang="en-US" sz="1200" b="1">
                <a:solidFill>
                  <a:schemeClr val="accent1"/>
                </a:solidFill>
                <a:latin typeface="+mj-lt"/>
              </a:rPr>
              <a:t>VIRTUAL CONSULTING TEAM (ORBIT AGENTS)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EF6E60-17F7-9AE5-FF68-0F0B05AD0425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45" name="Circle: Hollow 44">
              <a:extLst>
                <a:ext uri="{FF2B5EF4-FFF2-40B4-BE49-F238E27FC236}">
                  <a16:creationId xmlns:a16="http://schemas.microsoft.com/office/drawing/2014/main" id="{AE7B3276-281A-71A7-2205-0CF9BBCCC2BF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CAEF660-8D3F-78CF-1760-D37C56289276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49" name="Shape 3">
                <a:extLst>
                  <a:ext uri="{FF2B5EF4-FFF2-40B4-BE49-F238E27FC236}">
                    <a16:creationId xmlns:a16="http://schemas.microsoft.com/office/drawing/2014/main" id="{9D84EAF2-8ADF-A356-821F-B9B31D54CD3A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1" name="Shape 4">
                <a:extLst>
                  <a:ext uri="{FF2B5EF4-FFF2-40B4-BE49-F238E27FC236}">
                    <a16:creationId xmlns:a16="http://schemas.microsoft.com/office/drawing/2014/main" id="{854FA156-E265-1B60-B30F-973BC9D72346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3" name="Shape 5">
                <a:extLst>
                  <a:ext uri="{FF2B5EF4-FFF2-40B4-BE49-F238E27FC236}">
                    <a16:creationId xmlns:a16="http://schemas.microsoft.com/office/drawing/2014/main" id="{B0B690BC-0D99-522A-C980-ADE2EA34BA47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4" name="Shape 6">
                <a:extLst>
                  <a:ext uri="{FF2B5EF4-FFF2-40B4-BE49-F238E27FC236}">
                    <a16:creationId xmlns:a16="http://schemas.microsoft.com/office/drawing/2014/main" id="{734F6C8F-70A7-6233-6559-C76BE601DFC3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5" name="Shape 7">
                <a:extLst>
                  <a:ext uri="{FF2B5EF4-FFF2-40B4-BE49-F238E27FC236}">
                    <a16:creationId xmlns:a16="http://schemas.microsoft.com/office/drawing/2014/main" id="{74236E28-AB7A-155B-B7EE-6E57D575CA68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6" name="Shape 10">
                <a:extLst>
                  <a:ext uri="{FF2B5EF4-FFF2-40B4-BE49-F238E27FC236}">
                    <a16:creationId xmlns:a16="http://schemas.microsoft.com/office/drawing/2014/main" id="{2AAB816F-67E7-78D6-4D9C-E12E1BC36A0C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855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FABA-2F6B-136C-9E49-2BAFA838D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48D9EA8-C78F-E7C2-3F9F-C61CB7FAA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4" y="2053244"/>
            <a:ext cx="4155437" cy="351182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BEBE2-DAA7-9262-3AA1-2A2D8988C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9EB315-7BFF-34B7-7C75-F563E23A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/>
          <a:lstStyle/>
          <a:p>
            <a:r>
              <a:rPr lang="en-IN" i="1" u="sng"/>
              <a:t>Solution:</a:t>
            </a:r>
            <a:r>
              <a:rPr lang="en-IN"/>
              <a:t> </a:t>
            </a:r>
            <a:r>
              <a:rPr lang="en-IN" b="1"/>
              <a:t>Orbit</a:t>
            </a:r>
            <a:r>
              <a:rPr lang="en-IN"/>
              <a:t> reduces facilitator’s cognitive load and parallels workshop flow, including participant activities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173675D-A724-7187-E8B5-4BF0E61ACB34}"/>
              </a:ext>
            </a:extLst>
          </p:cNvPr>
          <p:cNvGrpSpPr/>
          <p:nvPr/>
        </p:nvGrpSpPr>
        <p:grpSpPr>
          <a:xfrm>
            <a:off x="4921638" y="2100449"/>
            <a:ext cx="6922288" cy="1310660"/>
            <a:chOff x="2618509" y="1887252"/>
            <a:chExt cx="6766560" cy="739832"/>
          </a:xfrm>
          <a:noFill/>
        </p:grpSpPr>
        <p:sp>
          <p:nvSpPr>
            <p:cNvPr id="145" name="Diamond 144">
              <a:extLst>
                <a:ext uri="{FF2B5EF4-FFF2-40B4-BE49-F238E27FC236}">
                  <a16:creationId xmlns:a16="http://schemas.microsoft.com/office/drawing/2014/main" id="{0FA23BF4-6DA9-F033-697B-58F7E5422301}"/>
                </a:ext>
              </a:extLst>
            </p:cNvPr>
            <p:cNvSpPr/>
            <p:nvPr/>
          </p:nvSpPr>
          <p:spPr>
            <a:xfrm>
              <a:off x="2618509" y="1887252"/>
              <a:ext cx="3383280" cy="739832"/>
            </a:xfrm>
            <a:prstGeom prst="diamond">
              <a:avLst/>
            </a:prstGeom>
            <a:gradFill flip="none" rotWithShape="1">
              <a:gsLst>
                <a:gs pos="50000">
                  <a:schemeClr val="accent2">
                    <a:lumMod val="75000"/>
                  </a:schemeClr>
                </a:gs>
                <a:gs pos="50000">
                  <a:schemeClr val="bg2"/>
                </a:gs>
              </a:gsLst>
              <a:lin ang="0" scaled="1"/>
              <a:tileRect/>
            </a:gradFill>
            <a:ln w="285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46" name="Diamond 145">
              <a:extLst>
                <a:ext uri="{FF2B5EF4-FFF2-40B4-BE49-F238E27FC236}">
                  <a16:creationId xmlns:a16="http://schemas.microsoft.com/office/drawing/2014/main" id="{28254EC2-CFC9-F0EA-718E-031F00429BDD}"/>
                </a:ext>
              </a:extLst>
            </p:cNvPr>
            <p:cNvSpPr/>
            <p:nvPr/>
          </p:nvSpPr>
          <p:spPr>
            <a:xfrm>
              <a:off x="6001789" y="1887252"/>
              <a:ext cx="3383280" cy="739832"/>
            </a:xfrm>
            <a:prstGeom prst="diamond">
              <a:avLst/>
            </a:prstGeom>
            <a:gradFill flip="none" rotWithShape="1">
              <a:gsLst>
                <a:gs pos="50000">
                  <a:schemeClr val="accent2">
                    <a:lumMod val="75000"/>
                  </a:schemeClr>
                </a:gs>
                <a:gs pos="50000">
                  <a:schemeClr val="bg2"/>
                </a:gs>
              </a:gsLst>
              <a:lin ang="0" scaled="1"/>
              <a:tileRect/>
            </a:gradFill>
            <a:ln w="285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solidFill>
                  <a:schemeClr val="bg2"/>
                </a:solidFill>
                <a:latin typeface="+mj-lt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1D53C0D-54D2-4CFD-BFD4-441561F74CD4}"/>
              </a:ext>
            </a:extLst>
          </p:cNvPr>
          <p:cNvGrpSpPr/>
          <p:nvPr/>
        </p:nvGrpSpPr>
        <p:grpSpPr>
          <a:xfrm>
            <a:off x="5510962" y="2492989"/>
            <a:ext cx="5819830" cy="444202"/>
            <a:chOff x="5287267" y="2384924"/>
            <a:chExt cx="6365066" cy="444202"/>
          </a:xfrm>
          <a:noFill/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5EE22FE-6ECB-A93D-6FD1-B040098B6C5A}"/>
                </a:ext>
              </a:extLst>
            </p:cNvPr>
            <p:cNvSpPr/>
            <p:nvPr/>
          </p:nvSpPr>
          <p:spPr>
            <a:xfrm>
              <a:off x="5287267" y="2384924"/>
              <a:ext cx="1323153" cy="44420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chemeClr val="bg1"/>
                  </a:solidFill>
                  <a:latin typeface="+mj-lt"/>
                </a:rPr>
                <a:t>What factors impact patient experience?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368414E-A60F-D4CE-E178-D0AAAF724746}"/>
                </a:ext>
              </a:extLst>
            </p:cNvPr>
            <p:cNvSpPr/>
            <p:nvPr/>
          </p:nvSpPr>
          <p:spPr>
            <a:xfrm>
              <a:off x="6546581" y="2384924"/>
              <a:ext cx="1323153" cy="44420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chemeClr val="bg1"/>
                  </a:solidFill>
                  <a:latin typeface="+mj-lt"/>
                </a:rPr>
                <a:t>What key themes are emerging?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1C00AC2-68A0-C082-AC17-19A74CE56B12}"/>
                </a:ext>
              </a:extLst>
            </p:cNvPr>
            <p:cNvSpPr/>
            <p:nvPr/>
          </p:nvSpPr>
          <p:spPr>
            <a:xfrm>
              <a:off x="8938889" y="2384924"/>
              <a:ext cx="1455468" cy="44420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chemeClr val="bg1"/>
                  </a:solidFill>
                  <a:latin typeface="+mj-lt"/>
                </a:rPr>
                <a:t>What solutions can address pain points &amp; themes?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1778A50-F534-0025-6662-39B2EE67DA32}"/>
                </a:ext>
              </a:extLst>
            </p:cNvPr>
            <p:cNvSpPr/>
            <p:nvPr/>
          </p:nvSpPr>
          <p:spPr>
            <a:xfrm>
              <a:off x="10329180" y="2384924"/>
              <a:ext cx="1323153" cy="44420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b="1">
                  <a:solidFill>
                    <a:schemeClr val="bg1"/>
                  </a:solidFill>
                  <a:latin typeface="+mj-lt"/>
                </a:rPr>
                <a:t>How should solutions be prioritized?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FCA1DC3-AB89-2DC5-4EB1-E7E122B5B319}"/>
              </a:ext>
            </a:extLst>
          </p:cNvPr>
          <p:cNvSpPr/>
          <p:nvPr/>
        </p:nvSpPr>
        <p:spPr>
          <a:xfrm>
            <a:off x="4921638" y="1503406"/>
            <a:ext cx="6922287" cy="42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chemeClr val="bg2"/>
                </a:solidFill>
                <a:latin typeface="+mj-lt"/>
              </a:rPr>
              <a:t>Activity Walkthrough</a:t>
            </a:r>
            <a:r>
              <a:rPr lang="en-IN" sz="1400">
                <a:solidFill>
                  <a:schemeClr val="bg2"/>
                </a:solidFill>
                <a:latin typeface="+mj-lt"/>
              </a:rPr>
              <a:t> – </a:t>
            </a:r>
            <a:r>
              <a:rPr lang="en-IN" sz="1400" i="1">
                <a:solidFill>
                  <a:schemeClr val="bg2"/>
                </a:solidFill>
                <a:latin typeface="+mj-lt"/>
              </a:rPr>
              <a:t>translating discussion into recommendations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13AB8A-91A5-BFA8-8D1B-2F4A92B95F2B}"/>
              </a:ext>
            </a:extLst>
          </p:cNvPr>
          <p:cNvSpPr/>
          <p:nvPr/>
        </p:nvSpPr>
        <p:spPr>
          <a:xfrm>
            <a:off x="359663" y="1503406"/>
            <a:ext cx="4095958" cy="426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chemeClr val="bg2"/>
                </a:solidFill>
                <a:latin typeface="+mj-lt"/>
              </a:rPr>
              <a:t>Dashboard </a:t>
            </a:r>
            <a:r>
              <a:rPr lang="en-IN" sz="1400">
                <a:solidFill>
                  <a:schemeClr val="bg2"/>
                </a:solidFill>
                <a:latin typeface="+mj-lt"/>
              </a:rPr>
              <a:t>– </a:t>
            </a:r>
            <a:r>
              <a:rPr lang="en-IN" sz="1400" i="1">
                <a:solidFill>
                  <a:schemeClr val="bg2"/>
                </a:solidFill>
                <a:latin typeface="+mj-lt"/>
              </a:rPr>
              <a:t>letting facilitators focus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949B6BE-CD76-41ED-76B9-D1995B5B99E7}"/>
              </a:ext>
            </a:extLst>
          </p:cNvPr>
          <p:cNvSpPr/>
          <p:nvPr/>
        </p:nvSpPr>
        <p:spPr>
          <a:xfrm>
            <a:off x="4921638" y="5718958"/>
            <a:ext cx="6922287" cy="5107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i="1">
                <a:solidFill>
                  <a:schemeClr val="bg2"/>
                </a:solidFill>
                <a:latin typeface="+mj-lt"/>
              </a:rPr>
              <a:t>Analog toolkit: </a:t>
            </a:r>
            <a:r>
              <a:rPr lang="en-IN" sz="1100" i="1">
                <a:solidFill>
                  <a:schemeClr val="bg2"/>
                </a:solidFill>
                <a:latin typeface="+mj-lt"/>
              </a:rPr>
              <a:t>sticky note exercise, Miro, photo of a whiteboard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506DF72-D5BC-A71A-8B38-F2784808ACCE}"/>
              </a:ext>
            </a:extLst>
          </p:cNvPr>
          <p:cNvSpPr/>
          <p:nvPr/>
        </p:nvSpPr>
        <p:spPr>
          <a:xfrm>
            <a:off x="359664" y="5718958"/>
            <a:ext cx="4095957" cy="51079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i="1">
                <a:solidFill>
                  <a:schemeClr val="bg2"/>
                </a:solidFill>
                <a:latin typeface="+mj-lt"/>
              </a:rPr>
              <a:t>Analog toolkit: </a:t>
            </a:r>
            <a:r>
              <a:rPr lang="en-IN" sz="1100" i="1">
                <a:solidFill>
                  <a:schemeClr val="bg2"/>
                </a:solidFill>
                <a:latin typeface="+mj-lt"/>
              </a:rPr>
              <a:t>written parking lot, notepad, watch, texts</a:t>
            </a:r>
          </a:p>
        </p:txBody>
      </p:sp>
      <p:sp>
        <p:nvSpPr>
          <p:cNvPr id="169" name="ArchLabel">
            <a:extLst>
              <a:ext uri="{FF2B5EF4-FFF2-40B4-BE49-F238E27FC236}">
                <a16:creationId xmlns:a16="http://schemas.microsoft.com/office/drawing/2014/main" id="{D602E37D-69CF-CBD5-EBF1-BC0E2149D241}"/>
              </a:ext>
            </a:extLst>
          </p:cNvPr>
          <p:cNvSpPr/>
          <p:nvPr/>
        </p:nvSpPr>
        <p:spPr>
          <a:xfrm>
            <a:off x="4921638" y="2008675"/>
            <a:ext cx="756647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l"/>
            <a:r>
              <a:rPr lang="en-US" sz="1200" b="1">
                <a:solidFill>
                  <a:schemeClr val="accent1"/>
                </a:solidFill>
                <a:latin typeface="+mj-lt"/>
              </a:rPr>
              <a:t>LIVE ACTIVITY</a:t>
            </a:r>
            <a:endParaRPr lang="en-US" sz="1200" b="1">
              <a:solidFill>
                <a:schemeClr val="accent1"/>
              </a:solidFill>
              <a:latin typeface="+mj-lt"/>
              <a:cs typeface="Poppi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E8B9D1-948E-9E5A-E0E2-4F30A7466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670"/>
          <a:stretch>
            <a:fillRect/>
          </a:stretch>
        </p:blipFill>
        <p:spPr>
          <a:xfrm>
            <a:off x="4921638" y="3578087"/>
            <a:ext cx="4546095" cy="198746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392684E4-C3E0-41E9-8773-C44CE7009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149"/>
          <a:stretch>
            <a:fillRect/>
          </a:stretch>
        </p:blipFill>
        <p:spPr>
          <a:xfrm>
            <a:off x="7297832" y="4610047"/>
            <a:ext cx="4546093" cy="955504"/>
          </a:xfrm>
          <a:prstGeom prst="rect">
            <a:avLst/>
          </a:prstGeom>
          <a:ln>
            <a:solidFill>
              <a:schemeClr val="bg2"/>
            </a:solidFill>
          </a:ln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0CF27ABD-A385-F979-6C13-D75803E37AE6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80" name="Circle: Hollow 79">
              <a:extLst>
                <a:ext uri="{FF2B5EF4-FFF2-40B4-BE49-F238E27FC236}">
                  <a16:creationId xmlns:a16="http://schemas.microsoft.com/office/drawing/2014/main" id="{8234BDA9-5E80-E069-B4DD-98C486EA0F2F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CE04FF3-7F90-E399-C45E-5626E5DFB1B7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84" name="Shape 3">
                <a:extLst>
                  <a:ext uri="{FF2B5EF4-FFF2-40B4-BE49-F238E27FC236}">
                    <a16:creationId xmlns:a16="http://schemas.microsoft.com/office/drawing/2014/main" id="{2836AC86-0339-513B-5CD8-A53DCC604189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86" name="Shape 4">
                <a:extLst>
                  <a:ext uri="{FF2B5EF4-FFF2-40B4-BE49-F238E27FC236}">
                    <a16:creationId xmlns:a16="http://schemas.microsoft.com/office/drawing/2014/main" id="{33276E76-D1DB-4DB7-1350-09B0E7210F84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88" name="Shape 5">
                <a:extLst>
                  <a:ext uri="{FF2B5EF4-FFF2-40B4-BE49-F238E27FC236}">
                    <a16:creationId xmlns:a16="http://schemas.microsoft.com/office/drawing/2014/main" id="{C87F38CC-3066-B00E-FA69-5ED7C2C0BB3D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90" name="Shape 6">
                <a:extLst>
                  <a:ext uri="{FF2B5EF4-FFF2-40B4-BE49-F238E27FC236}">
                    <a16:creationId xmlns:a16="http://schemas.microsoft.com/office/drawing/2014/main" id="{FB0B7B02-1684-29F8-B106-8E9344DF4C38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92" name="Shape 7">
                <a:extLst>
                  <a:ext uri="{FF2B5EF4-FFF2-40B4-BE49-F238E27FC236}">
                    <a16:creationId xmlns:a16="http://schemas.microsoft.com/office/drawing/2014/main" id="{3E25ACFC-38D0-9E32-355D-AFA8355D8FAF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94" name="Shape 10">
                <a:extLst>
                  <a:ext uri="{FF2B5EF4-FFF2-40B4-BE49-F238E27FC236}">
                    <a16:creationId xmlns:a16="http://schemas.microsoft.com/office/drawing/2014/main" id="{C0DB483B-124F-5035-CB91-12B5C1CED22E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895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0DF1-055E-2FF4-742D-2EB83BC0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E47B94-8785-CA63-E4EA-4366505B3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F41481-EDA0-6C7A-55A9-2BA15145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/>
          <a:lstStyle/>
          <a:p>
            <a:r>
              <a:rPr lang="en-US" i="1" u="sng"/>
              <a:t>Next Steps:</a:t>
            </a:r>
            <a:r>
              <a:rPr lang="en-US"/>
              <a:t> </a:t>
            </a:r>
            <a:r>
              <a:rPr lang="en-US" b="1"/>
              <a:t>Orbit</a:t>
            </a:r>
            <a:r>
              <a:rPr lang="en-US"/>
              <a:t> can expand features to support more use cases and become reusable across industries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1C529D-85C8-6BBA-BB99-EC5E1ADA8237}"/>
              </a:ext>
            </a:extLst>
          </p:cNvPr>
          <p:cNvGrpSpPr/>
          <p:nvPr/>
        </p:nvGrpSpPr>
        <p:grpSpPr>
          <a:xfrm>
            <a:off x="359665" y="1447801"/>
            <a:ext cx="6061013" cy="4233807"/>
            <a:chOff x="359664" y="1701800"/>
            <a:chExt cx="7667806" cy="3666841"/>
          </a:xfrm>
        </p:grpSpPr>
        <p:sp>
          <p:nvSpPr>
            <p:cNvPr id="107" name="Card Band 1">
              <a:extLst>
                <a:ext uri="{FF2B5EF4-FFF2-40B4-BE49-F238E27FC236}">
                  <a16:creationId xmlns:a16="http://schemas.microsoft.com/office/drawing/2014/main" id="{0BE66F13-54AA-1DE1-242C-875138795803}"/>
                </a:ext>
              </a:extLst>
            </p:cNvPr>
            <p:cNvSpPr/>
            <p:nvPr/>
          </p:nvSpPr>
          <p:spPr>
            <a:xfrm>
              <a:off x="359664" y="1701800"/>
              <a:ext cx="7667806" cy="432228"/>
            </a:xfrm>
            <a:prstGeom prst="rect">
              <a:avLst/>
            </a:prstGeom>
            <a:solidFill>
              <a:srgbClr val="09375F"/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lang="en-US" b="1">
                  <a:solidFill>
                    <a:srgbClr val="FFFFFF"/>
                  </a:solidFill>
                </a:rPr>
                <a:t>Path to Market</a:t>
              </a:r>
            </a:p>
          </p:txBody>
        </p:sp>
        <p:sp>
          <p:nvSpPr>
            <p:cNvPr id="111" name="Card Body 1">
              <a:extLst>
                <a:ext uri="{FF2B5EF4-FFF2-40B4-BE49-F238E27FC236}">
                  <a16:creationId xmlns:a16="http://schemas.microsoft.com/office/drawing/2014/main" id="{7C4F9EB5-DAE5-3199-DCC8-BD191D9A6D2D}"/>
                </a:ext>
              </a:extLst>
            </p:cNvPr>
            <p:cNvSpPr txBox="1"/>
            <p:nvPr/>
          </p:nvSpPr>
          <p:spPr>
            <a:xfrm>
              <a:off x="359664" y="2225469"/>
              <a:ext cx="3706944" cy="31431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spcAft>
                  <a:spcPts val="350"/>
                </a:spcAft>
                <a:buClr>
                  <a:srgbClr val="44B0B1"/>
                </a:buClr>
              </a:pPr>
              <a:r>
                <a:rPr lang="en-US" sz="1200" b="1" spc="60">
                  <a:solidFill>
                    <a:srgbClr val="44B0B1"/>
                  </a:solidFill>
                </a:rPr>
                <a:t>NEXT 30 DAYS</a:t>
              </a:r>
              <a:endParaRPr lang="en-US" sz="1200" b="0">
                <a:solidFill>
                  <a:srgbClr val="404040"/>
                </a:solidFill>
                <a:latin typeface="Poppins"/>
              </a:endParaRP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latin typeface="Poppins"/>
                </a:rPr>
                <a:t>Pilot </a:t>
              </a:r>
              <a:r>
                <a:rPr lang="en-US" sz="1200">
                  <a:latin typeface="Poppins"/>
                  <a:cs typeface="Poppins"/>
                </a:rPr>
                <a:t>internally on one live Aberdeen workshop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latin typeface="Poppins"/>
                  <a:cs typeface="Poppins"/>
                </a:rPr>
                <a:t>Strategize marketing plan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latin typeface="Poppins"/>
                  <a:cs typeface="Poppins"/>
                </a:rPr>
                <a:t>Prepare legal review, consent forms, and data privacy protections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>
                  <a:latin typeface="Poppins"/>
                  <a:cs typeface="Poppins"/>
                </a:rPr>
                <a:t>Define success metrics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US" sz="1200">
                <a:latin typeface="Poppins"/>
                <a:cs typeface="Poppins"/>
              </a:endParaRPr>
            </a:p>
            <a:p>
              <a:pPr>
                <a:spcAft>
                  <a:spcPts val="350"/>
                </a:spcAft>
                <a:buClr>
                  <a:srgbClr val="44B0B1"/>
                </a:buClr>
              </a:pPr>
              <a:r>
                <a:rPr lang="en-US" sz="1200" b="1" spc="60">
                  <a:solidFill>
                    <a:srgbClr val="44B0B1"/>
                  </a:solidFill>
                </a:rPr>
                <a:t>60-90 DAYS OUT</a:t>
              </a:r>
              <a:endParaRPr lang="en-US" sz="1200">
                <a:solidFill>
                  <a:srgbClr val="404040"/>
                </a:solidFill>
              </a:endParaRP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Package as a repeatable Aberdeen Labs offering, agenda templates included</a:t>
              </a:r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Codify the playbook</a:t>
              </a:r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Finalize marketing collateral</a:t>
              </a:r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Train Product Champions</a:t>
              </a:r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Script the demo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/>
                <a:t>Pilot on a real client engagement</a:t>
              </a:r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lvl="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>
                <a:spcAft>
                  <a:spcPts val="350"/>
                </a:spcAft>
                <a:buClr>
                  <a:schemeClr val="tx1"/>
                </a:buClr>
              </a:pPr>
              <a:endParaRPr lang="en-US" sz="1200">
                <a:latin typeface="Poppins"/>
                <a:cs typeface="Poppins"/>
              </a:endParaRPr>
            </a:p>
          </p:txBody>
        </p:sp>
        <p:sp>
          <p:nvSpPr>
            <p:cNvPr id="4" name="Card Body 1">
              <a:extLst>
                <a:ext uri="{FF2B5EF4-FFF2-40B4-BE49-F238E27FC236}">
                  <a16:creationId xmlns:a16="http://schemas.microsoft.com/office/drawing/2014/main" id="{7C5F077A-953A-A248-0BF8-20895F9975B9}"/>
                </a:ext>
              </a:extLst>
            </p:cNvPr>
            <p:cNvSpPr txBox="1"/>
            <p:nvPr/>
          </p:nvSpPr>
          <p:spPr>
            <a:xfrm>
              <a:off x="4218881" y="2225469"/>
              <a:ext cx="3808587" cy="26359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00"/>
                </a:spcBef>
                <a:spcAft>
                  <a:spcPts val="150"/>
                </a:spcAft>
              </a:pPr>
              <a:r>
                <a:rPr lang="en-US" sz="1200" b="1" spc="60">
                  <a:solidFill>
                    <a:srgbClr val="44B0B1"/>
                  </a:solidFill>
                </a:rPr>
                <a:t>ONGOING PRODUCT ROADMAP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/>
                <a:t>Workshop Intelligence Engine | </a:t>
              </a:r>
              <a:r>
                <a:rPr lang="en-US" sz="1200"/>
                <a:t>Every workshop makes the next one smarter — slides included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/>
                <a:t>Murmur | </a:t>
              </a:r>
              <a:r>
                <a:rPr lang="en-US" sz="1200"/>
                <a:t>Captures side conversations and escalate them into meeting outputs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/>
                <a:t>Activity Box | </a:t>
              </a:r>
              <a:r>
                <a:rPr lang="en-US" sz="1200"/>
                <a:t>Suggest and prepare workshop exercises like magic wand, sticky notes, voting, kaizen burst, four corners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/>
                <a:t>App Integration | </a:t>
              </a:r>
              <a:r>
                <a:rPr lang="en-US" sz="1200"/>
                <a:t>Connect all your productivity and data sources to build central intelligence</a:t>
              </a:r>
            </a:p>
            <a:p>
              <a:pPr marL="171450" indent="-171450">
                <a:spcAft>
                  <a:spcPts val="35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sz="1200" b="1"/>
                <a:t>Diagramming Integration | </a:t>
              </a:r>
              <a:r>
                <a:rPr lang="en-US" sz="1200"/>
                <a:t>Connect Mural, Miro, and Figma to mature virtual interactivity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D8EAC8-8E41-F2FF-DC97-FBE55C9D6445}"/>
              </a:ext>
            </a:extLst>
          </p:cNvPr>
          <p:cNvGrpSpPr/>
          <p:nvPr/>
        </p:nvGrpSpPr>
        <p:grpSpPr>
          <a:xfrm>
            <a:off x="6669157" y="1447801"/>
            <a:ext cx="5174770" cy="4348897"/>
            <a:chOff x="7814086" y="1447801"/>
            <a:chExt cx="4029840" cy="434889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879B1AA-68B8-024A-7E4C-0C131C8A47D9}"/>
                </a:ext>
              </a:extLst>
            </p:cNvPr>
            <p:cNvGrpSpPr/>
            <p:nvPr/>
          </p:nvGrpSpPr>
          <p:grpSpPr>
            <a:xfrm>
              <a:off x="7814086" y="1447801"/>
              <a:ext cx="4029840" cy="2702961"/>
              <a:chOff x="359664" y="1701800"/>
              <a:chExt cx="7667806" cy="2340997"/>
            </a:xfrm>
          </p:grpSpPr>
          <p:sp>
            <p:nvSpPr>
              <p:cNvPr id="12" name="Card Band 1">
                <a:extLst>
                  <a:ext uri="{FF2B5EF4-FFF2-40B4-BE49-F238E27FC236}">
                    <a16:creationId xmlns:a16="http://schemas.microsoft.com/office/drawing/2014/main" id="{53CCEF62-6740-52C1-61BE-C08B06A2FC0C}"/>
                  </a:ext>
                </a:extLst>
              </p:cNvPr>
              <p:cNvSpPr/>
              <p:nvPr/>
            </p:nvSpPr>
            <p:spPr>
              <a:xfrm>
                <a:off x="359664" y="1701800"/>
                <a:ext cx="7667806" cy="432228"/>
              </a:xfrm>
              <a:prstGeom prst="rect">
                <a:avLst/>
              </a:prstGeom>
              <a:solidFill>
                <a:srgbClr val="09375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>
                    <a:solidFill>
                      <a:srgbClr val="FFFFFF"/>
                    </a:solidFill>
                  </a:rPr>
                  <a:t>Risks &amp; Assumptions</a:t>
                </a:r>
              </a:p>
            </p:txBody>
          </p:sp>
          <p:sp>
            <p:nvSpPr>
              <p:cNvPr id="13" name="Card Body 1">
                <a:extLst>
                  <a:ext uri="{FF2B5EF4-FFF2-40B4-BE49-F238E27FC236}">
                    <a16:creationId xmlns:a16="http://schemas.microsoft.com/office/drawing/2014/main" id="{0F42DA2A-47BA-7EE2-4179-935820DB5B5E}"/>
                  </a:ext>
                </a:extLst>
              </p:cNvPr>
              <p:cNvSpPr txBox="1"/>
              <p:nvPr/>
            </p:nvSpPr>
            <p:spPr>
              <a:xfrm>
                <a:off x="359664" y="2225469"/>
                <a:ext cx="7667806" cy="181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>
                  <a:spcAft>
                    <a:spcPts val="350"/>
                  </a:spcAft>
                  <a:buClr>
                    <a:srgbClr val="44B0B1"/>
                  </a:buClr>
                </a:pPr>
                <a:r>
                  <a:rPr lang="en-US" sz="1200" b="1" spc="60">
                    <a:solidFill>
                      <a:srgbClr val="44B0B1"/>
                    </a:solidFill>
                  </a:rPr>
                  <a:t>RISKS</a:t>
                </a:r>
                <a:endParaRPr lang="en-US" sz="1200">
                  <a:solidFill>
                    <a:srgbClr val="404040"/>
                  </a:solidFill>
                </a:endParaRP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Poppins"/>
                    <a:cs typeface="Poppins"/>
                  </a:rPr>
                  <a:t>Heavy dependence on transcription and synthesis accuracy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Poppins"/>
                    <a:cs typeface="Poppins"/>
                  </a:rPr>
                  <a:t>Over-reliance → the tool drafts, the human decides; nothing reaches a client unreviewed</a:t>
                </a:r>
              </a:p>
              <a:p>
                <a:pPr>
                  <a:spcBef>
                    <a:spcPts val="500"/>
                  </a:spcBef>
                  <a:spcAft>
                    <a:spcPts val="150"/>
                  </a:spcAft>
                </a:pPr>
                <a:r>
                  <a:rPr lang="en-US" sz="1200" b="1" spc="60">
                    <a:solidFill>
                      <a:srgbClr val="44B0B1"/>
                    </a:solidFill>
                  </a:rPr>
                  <a:t>SUCCESS MEASURES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Poppins"/>
                    <a:cs typeface="Poppins"/>
                  </a:rPr>
                  <a:t>Cycle time improvement per stage: prep, facilitate, synthesize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Poppins"/>
                    <a:cs typeface="Poppins"/>
                  </a:rPr>
                  <a:t>Action plan comprehensiveness and inclusiveness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cs typeface="Poppins"/>
                  </a:rPr>
                  <a:t>Readout in the client's hands same day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>
                    <a:cs typeface="Poppins"/>
                  </a:rPr>
                  <a:t>Client and facilitator feedback on tool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12E7E87-08AD-A5A0-829B-0204FBAD751B}"/>
                </a:ext>
              </a:extLst>
            </p:cNvPr>
            <p:cNvGrpSpPr/>
            <p:nvPr/>
          </p:nvGrpSpPr>
          <p:grpSpPr>
            <a:xfrm>
              <a:off x="7814086" y="4232099"/>
              <a:ext cx="4029840" cy="1564599"/>
              <a:chOff x="359664" y="1701800"/>
              <a:chExt cx="7667806" cy="1355077"/>
            </a:xfrm>
          </p:grpSpPr>
          <p:sp>
            <p:nvSpPr>
              <p:cNvPr id="18" name="Card Band 1">
                <a:extLst>
                  <a:ext uri="{FF2B5EF4-FFF2-40B4-BE49-F238E27FC236}">
                    <a16:creationId xmlns:a16="http://schemas.microsoft.com/office/drawing/2014/main" id="{6FD938DC-0D75-D1CF-2B9A-5C5CA21C3E42}"/>
                  </a:ext>
                </a:extLst>
              </p:cNvPr>
              <p:cNvSpPr/>
              <p:nvPr/>
            </p:nvSpPr>
            <p:spPr>
              <a:xfrm>
                <a:off x="359664" y="1701800"/>
                <a:ext cx="7667806" cy="432228"/>
              </a:xfrm>
              <a:prstGeom prst="rect">
                <a:avLst/>
              </a:prstGeom>
              <a:solidFill>
                <a:srgbClr val="09375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r>
                  <a:rPr lang="en-US" b="1">
                    <a:solidFill>
                      <a:srgbClr val="FFFFFF"/>
                    </a:solidFill>
                  </a:rPr>
                  <a:t>Expanded Use Cases</a:t>
                </a:r>
              </a:p>
            </p:txBody>
          </p:sp>
          <p:sp>
            <p:nvSpPr>
              <p:cNvPr id="19" name="Card Body 1">
                <a:extLst>
                  <a:ext uri="{FF2B5EF4-FFF2-40B4-BE49-F238E27FC236}">
                    <a16:creationId xmlns:a16="http://schemas.microsoft.com/office/drawing/2014/main" id="{62A8D421-8E69-9893-90BB-902A3E561DD8}"/>
                  </a:ext>
                </a:extLst>
              </p:cNvPr>
              <p:cNvSpPr txBox="1"/>
              <p:nvPr/>
            </p:nvSpPr>
            <p:spPr>
              <a:xfrm>
                <a:off x="359664" y="2225468"/>
                <a:ext cx="7667806" cy="8314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200" b="1">
                    <a:latin typeface="Poppins"/>
                    <a:cs typeface="Poppins"/>
                  </a:rPr>
                  <a:t>eCommerce Transformation</a:t>
                </a:r>
                <a:r>
                  <a:rPr lang="en-US" sz="1200">
                    <a:latin typeface="Poppins"/>
                    <a:cs typeface="Poppins"/>
                  </a:rPr>
                  <a:t> | Identifying and solving for user pain points with online shopping for products given various stakeholder priorities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,Sans-Serif" panose="020B0604020202020204" pitchFamily="34" charset="0"/>
                  <a:buChar char="•"/>
                </a:pPr>
                <a:r>
                  <a:rPr lang="en-US" sz="1200" b="1">
                    <a:ea typeface="+mn-lt"/>
                    <a:cs typeface="+mn-lt"/>
                  </a:rPr>
                  <a:t>ERP</a:t>
                </a:r>
                <a:r>
                  <a:rPr lang="en-US" sz="1200" b="1">
                    <a:latin typeface="Poppins"/>
                    <a:cs typeface="Poppins"/>
                  </a:rPr>
                  <a:t> / Core System Selection</a:t>
                </a:r>
                <a:r>
                  <a:rPr lang="en-US" sz="1200">
                    <a:latin typeface="Poppins"/>
                    <a:cs typeface="Poppins"/>
                  </a:rPr>
                  <a:t> | Requirements gathering across business and IT stakeholders</a:t>
                </a: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1200"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1200"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marL="171450" indent="-171450">
                  <a:spcAft>
                    <a:spcPts val="35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endParaRPr lang="en-US" sz="1200">
                  <a:highlight>
                    <a:srgbClr val="FFFF00"/>
                  </a:highlight>
                  <a:latin typeface="Poppins"/>
                  <a:cs typeface="Poppins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5D78504-3B7D-0D91-E563-BB5C477C9599}"/>
              </a:ext>
            </a:extLst>
          </p:cNvPr>
          <p:cNvSpPr txBox="1"/>
          <p:nvPr/>
        </p:nvSpPr>
        <p:spPr>
          <a:xfrm>
            <a:off x="0" y="5980665"/>
            <a:ext cx="12192000" cy="3843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350"/>
              </a:spcAft>
              <a:buClr>
                <a:schemeClr val="tx1"/>
              </a:buClr>
            </a:pPr>
            <a:r>
              <a:rPr lang="en-US" sz="1600" b="1">
                <a:solidFill>
                  <a:schemeClr val="tx2"/>
                </a:solidFill>
                <a:latin typeface="Poppins"/>
                <a:cs typeface="Poppins"/>
              </a:rPr>
              <a:t>Orbit is topic- and industry-agnostic. Swap the domain lens, keep the engine.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83B846-E5DC-319E-5816-4030732E80C0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34" name="Circle: Hollow 33">
              <a:extLst>
                <a:ext uri="{FF2B5EF4-FFF2-40B4-BE49-F238E27FC236}">
                  <a16:creationId xmlns:a16="http://schemas.microsoft.com/office/drawing/2014/main" id="{005297C4-006B-CBBF-09EC-239D9598BA62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5934103-8663-D91C-0DF8-465B96EA64B3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36" name="Shape 3">
                <a:extLst>
                  <a:ext uri="{FF2B5EF4-FFF2-40B4-BE49-F238E27FC236}">
                    <a16:creationId xmlns:a16="http://schemas.microsoft.com/office/drawing/2014/main" id="{54F3EB15-5854-C9E5-C9B5-FBC7F1E1230A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7" name="Shape 4">
                <a:extLst>
                  <a:ext uri="{FF2B5EF4-FFF2-40B4-BE49-F238E27FC236}">
                    <a16:creationId xmlns:a16="http://schemas.microsoft.com/office/drawing/2014/main" id="{7308AEFC-16D3-A324-0F76-8EFE20AA04C1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8" name="Shape 5">
                <a:extLst>
                  <a:ext uri="{FF2B5EF4-FFF2-40B4-BE49-F238E27FC236}">
                    <a16:creationId xmlns:a16="http://schemas.microsoft.com/office/drawing/2014/main" id="{AA4E938C-976D-B344-3E19-765785E4330F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9" name="Shape 6">
                <a:extLst>
                  <a:ext uri="{FF2B5EF4-FFF2-40B4-BE49-F238E27FC236}">
                    <a16:creationId xmlns:a16="http://schemas.microsoft.com/office/drawing/2014/main" id="{1F9BDA2A-7720-A95F-7DBC-51F0DF0A6B67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0" name="Shape 7">
                <a:extLst>
                  <a:ext uri="{FF2B5EF4-FFF2-40B4-BE49-F238E27FC236}">
                    <a16:creationId xmlns:a16="http://schemas.microsoft.com/office/drawing/2014/main" id="{DDB173FE-F73A-A601-C2CA-ABA2C6CA37B4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1" name="Shape 10">
                <a:extLst>
                  <a:ext uri="{FF2B5EF4-FFF2-40B4-BE49-F238E27FC236}">
                    <a16:creationId xmlns:a16="http://schemas.microsoft.com/office/drawing/2014/main" id="{3C418CA1-828A-DBB0-D1AB-B2AA408A8FFA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481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CAE965-5071-C2BC-10EF-0FB7F3A7A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11</a:t>
            </a:fld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733BF9-3D2A-082F-A972-EEDF609FDEB5}"/>
              </a:ext>
            </a:extLst>
          </p:cNvPr>
          <p:cNvGrpSpPr/>
          <p:nvPr/>
        </p:nvGrpSpPr>
        <p:grpSpPr>
          <a:xfrm>
            <a:off x="2923032" y="527747"/>
            <a:ext cx="6345937" cy="5785993"/>
            <a:chOff x="1299001" y="270053"/>
            <a:chExt cx="6345937" cy="57859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E214532-D198-0CD1-6839-553D28DECA22}"/>
                </a:ext>
              </a:extLst>
            </p:cNvPr>
            <p:cNvGrpSpPr/>
            <p:nvPr/>
          </p:nvGrpSpPr>
          <p:grpSpPr>
            <a:xfrm>
              <a:off x="1299001" y="4753552"/>
              <a:ext cx="6345937" cy="1302494"/>
              <a:chOff x="3322794" y="2297997"/>
              <a:chExt cx="5715000" cy="1172995"/>
            </a:xfrm>
          </p:grpSpPr>
          <p:sp>
            <p:nvSpPr>
              <p:cNvPr id="7" name="Text 11">
                <a:extLst>
                  <a:ext uri="{FF2B5EF4-FFF2-40B4-BE49-F238E27FC236}">
                    <a16:creationId xmlns:a16="http://schemas.microsoft.com/office/drawing/2014/main" id="{0AB132A4-9867-A3BC-A01A-2151DC4D2566}"/>
                  </a:ext>
                </a:extLst>
              </p:cNvPr>
              <p:cNvSpPr/>
              <p:nvPr/>
            </p:nvSpPr>
            <p:spPr>
              <a:xfrm>
                <a:off x="3322794" y="3242392"/>
                <a:ext cx="57150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210" normalizeH="0" baseline="0" noProof="0">
                    <a:ln>
                      <a:noFill/>
                    </a:ln>
                    <a:solidFill>
                      <a:srgbClr val="071B3B"/>
                    </a:solidFill>
                    <a:effectLst/>
                    <a:uLnTx/>
                    <a:uFillTx/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KEEP THE CONVERSATION AT THE CENTER.</a:t>
                </a: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EB73424-4703-546D-E893-A150C6B28523}"/>
                  </a:ext>
                </a:extLst>
              </p:cNvPr>
              <p:cNvSpPr/>
              <p:nvPr/>
            </p:nvSpPr>
            <p:spPr>
              <a:xfrm>
                <a:off x="4746130" y="2297997"/>
                <a:ext cx="2868329" cy="6942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800" b="1">
                    <a:solidFill>
                      <a:schemeClr val="bg2"/>
                    </a:solidFill>
                  </a:rPr>
                  <a:t>O</a:t>
                </a:r>
                <a:r>
                  <a:rPr lang="en-IN" sz="8800">
                    <a:solidFill>
                      <a:schemeClr val="bg2"/>
                    </a:solidFill>
                  </a:rPr>
                  <a:t>rbit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9C0230-AE47-6350-87C9-977BA770560A}"/>
                </a:ext>
              </a:extLst>
            </p:cNvPr>
            <p:cNvGrpSpPr/>
            <p:nvPr/>
          </p:nvGrpSpPr>
          <p:grpSpPr>
            <a:xfrm>
              <a:off x="2635611" y="270053"/>
              <a:ext cx="3672717" cy="4018420"/>
              <a:chOff x="1543571" y="593587"/>
              <a:chExt cx="3307562" cy="3618894"/>
            </a:xfrm>
          </p:grpSpPr>
          <p:sp>
            <p:nvSpPr>
              <p:cNvPr id="10" name="Circle: Hollow 9">
                <a:extLst>
                  <a:ext uri="{FF2B5EF4-FFF2-40B4-BE49-F238E27FC236}">
                    <a16:creationId xmlns:a16="http://schemas.microsoft.com/office/drawing/2014/main" id="{06A8B53E-EE9D-78A8-D899-82B1C32926CB}"/>
                  </a:ext>
                </a:extLst>
              </p:cNvPr>
              <p:cNvSpPr/>
              <p:nvPr/>
            </p:nvSpPr>
            <p:spPr>
              <a:xfrm>
                <a:off x="2384188" y="1140977"/>
                <a:ext cx="1953928" cy="1953928"/>
              </a:xfrm>
              <a:prstGeom prst="donut">
                <a:avLst/>
              </a:prstGeom>
              <a:gradFill flip="none" rotWithShape="1">
                <a:gsLst>
                  <a:gs pos="14000">
                    <a:schemeClr val="accent2">
                      <a:lumMod val="75000"/>
                    </a:schemeClr>
                  </a:gs>
                  <a:gs pos="71000">
                    <a:schemeClr val="bg2"/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D4A9A2B-22A2-5CC9-A288-A3307728FB23}"/>
                  </a:ext>
                </a:extLst>
              </p:cNvPr>
              <p:cNvGrpSpPr/>
              <p:nvPr/>
            </p:nvGrpSpPr>
            <p:grpSpPr>
              <a:xfrm>
                <a:off x="1543571" y="593587"/>
                <a:ext cx="3307562" cy="3618894"/>
                <a:chOff x="5026457" y="1158545"/>
                <a:chExt cx="2145182" cy="2347103"/>
              </a:xfrm>
            </p:grpSpPr>
            <p:sp>
              <p:nvSpPr>
                <p:cNvPr id="12" name="Shape 3">
                  <a:extLst>
                    <a:ext uri="{FF2B5EF4-FFF2-40B4-BE49-F238E27FC236}">
                      <a16:creationId xmlns:a16="http://schemas.microsoft.com/office/drawing/2014/main" id="{65B56B8E-7F70-C35B-0263-1D585ABE2978}"/>
                    </a:ext>
                  </a:extLst>
                </p:cNvPr>
                <p:cNvSpPr/>
                <p:nvPr/>
              </p:nvSpPr>
              <p:spPr>
                <a:xfrm rot="1140000">
                  <a:off x="5026457" y="1158545"/>
                  <a:ext cx="2145182" cy="2145182"/>
                </a:xfrm>
                <a:prstGeom prst="arc">
                  <a:avLst/>
                </a:prstGeom>
                <a:solidFill>
                  <a:srgbClr val="FFFFFF">
                    <a:alpha val="0"/>
                  </a:srgbClr>
                </a:solidFill>
                <a:ln w="27851">
                  <a:solidFill>
                    <a:srgbClr val="009AC1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  <p:sp>
              <p:nvSpPr>
                <p:cNvPr id="13" name="Shape 4">
                  <a:extLst>
                    <a:ext uri="{FF2B5EF4-FFF2-40B4-BE49-F238E27FC236}">
                      <a16:creationId xmlns:a16="http://schemas.microsoft.com/office/drawing/2014/main" id="{17377D3C-C582-A9D6-153D-7C1EA837B032}"/>
                    </a:ext>
                  </a:extLst>
                </p:cNvPr>
                <p:cNvSpPr/>
                <p:nvPr/>
              </p:nvSpPr>
              <p:spPr>
                <a:xfrm rot="12300000">
                  <a:off x="5250302" y="1382390"/>
                  <a:ext cx="1697492" cy="1697492"/>
                </a:xfrm>
                <a:prstGeom prst="arc">
                  <a:avLst/>
                </a:prstGeom>
                <a:solidFill>
                  <a:srgbClr val="FFFFFF">
                    <a:alpha val="0"/>
                  </a:srgbClr>
                </a:solidFill>
                <a:ln w="20726">
                  <a:solidFill>
                    <a:schemeClr val="bg2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  <p:sp>
              <p:nvSpPr>
                <p:cNvPr id="14" name="Shape 5">
                  <a:extLst>
                    <a:ext uri="{FF2B5EF4-FFF2-40B4-BE49-F238E27FC236}">
                      <a16:creationId xmlns:a16="http://schemas.microsoft.com/office/drawing/2014/main" id="{D8C04D19-93A4-D469-1400-6A8AD5810B5A}"/>
                    </a:ext>
                  </a:extLst>
                </p:cNvPr>
                <p:cNvSpPr/>
                <p:nvPr/>
              </p:nvSpPr>
              <p:spPr>
                <a:xfrm>
                  <a:off x="6728612" y="1452342"/>
                  <a:ext cx="289133" cy="289133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12700">
                  <a:solidFill>
                    <a:srgbClr val="009AC1"/>
                  </a:solidFill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  <p:sp>
              <p:nvSpPr>
                <p:cNvPr id="15" name="Shape 6">
                  <a:extLst>
                    <a:ext uri="{FF2B5EF4-FFF2-40B4-BE49-F238E27FC236}">
                      <a16:creationId xmlns:a16="http://schemas.microsoft.com/office/drawing/2014/main" id="{98554FAE-F129-58E7-2385-AAA22BD6CB6C}"/>
                    </a:ext>
                  </a:extLst>
                </p:cNvPr>
                <p:cNvSpPr/>
                <p:nvPr/>
              </p:nvSpPr>
              <p:spPr>
                <a:xfrm>
                  <a:off x="5026457" y="2147194"/>
                  <a:ext cx="205191" cy="205191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  <p:sp>
              <p:nvSpPr>
                <p:cNvPr id="16" name="Shape 7">
                  <a:extLst>
                    <a:ext uri="{FF2B5EF4-FFF2-40B4-BE49-F238E27FC236}">
                      <a16:creationId xmlns:a16="http://schemas.microsoft.com/office/drawing/2014/main" id="{0BDC5DFC-730C-C78F-8C31-7B9AA540BD3A}"/>
                    </a:ext>
                  </a:extLst>
                </p:cNvPr>
                <p:cNvSpPr/>
                <p:nvPr/>
              </p:nvSpPr>
              <p:spPr>
                <a:xfrm>
                  <a:off x="5656021" y="3047238"/>
                  <a:ext cx="270480" cy="270480"/>
                </a:xfrm>
                <a:prstGeom prst="ellipse">
                  <a:avLst/>
                </a:prstGeom>
                <a:solidFill>
                  <a:schemeClr val="bg2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  <p:sp>
              <p:nvSpPr>
                <p:cNvPr id="17" name="Shape 10">
                  <a:extLst>
                    <a:ext uri="{FF2B5EF4-FFF2-40B4-BE49-F238E27FC236}">
                      <a16:creationId xmlns:a16="http://schemas.microsoft.com/office/drawing/2014/main" id="{DFE8B11F-2C01-17EE-9E45-030FB729FDE8}"/>
                    </a:ext>
                  </a:extLst>
                </p:cNvPr>
                <p:cNvSpPr/>
                <p:nvPr/>
              </p:nvSpPr>
              <p:spPr>
                <a:xfrm>
                  <a:off x="6809299" y="3345628"/>
                  <a:ext cx="160020" cy="16002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noFill/>
                  <a:prstDash val="solid"/>
                </a:ln>
              </p:spPr>
              <p:txBody>
                <a:bodyPr/>
                <a:lstStyle/>
                <a:p>
                  <a:endParaRPr lang="en-IN"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836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6E98D5-DEFF-5ACB-CE8B-FBE0F657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4A5EC-D027-C3C9-631C-41AE24FA7A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2044363" y="6521450"/>
            <a:ext cx="147637" cy="142875"/>
          </a:xfrm>
        </p:spPr>
        <p:txBody>
          <a:bodyPr/>
          <a:lstStyle/>
          <a:p>
            <a:fld id="{096069B9-BB78-45EE-A327-B5E08C3C1DB1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32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5C18-6157-ECA5-0A53-2F406A9A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199EFB-4BE5-CAB8-25DF-358B14FB3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3170C9-F842-56E8-FB36-A22CF1A50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/>
          <a:lstStyle/>
          <a:p>
            <a:r>
              <a:rPr lang="en-IN"/>
              <a:t>team4ever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9D4123-2CA7-A8C5-8829-84AF8A754329}"/>
              </a:ext>
            </a:extLst>
          </p:cNvPr>
          <p:cNvSpPr/>
          <p:nvPr/>
        </p:nvSpPr>
        <p:spPr>
          <a:xfrm>
            <a:off x="9384284" y="1836856"/>
            <a:ext cx="2890434" cy="9579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+mj-lt"/>
              </a:rPr>
              <a:t>Gaurav Goyal</a:t>
            </a:r>
            <a:endParaRPr lang="en-US" sz="28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200" i="1">
                <a:solidFill>
                  <a:schemeClr val="tx1"/>
                </a:solidFill>
                <a:latin typeface="+mj-lt"/>
              </a:rPr>
              <a:t>AI Data Platform Engineer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992597-F06A-138C-B0B7-B104E84049FA}"/>
              </a:ext>
            </a:extLst>
          </p:cNvPr>
          <p:cNvSpPr/>
          <p:nvPr/>
        </p:nvSpPr>
        <p:spPr>
          <a:xfrm>
            <a:off x="1880349" y="1836856"/>
            <a:ext cx="2890434" cy="9579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+mj-lt"/>
              </a:rPr>
              <a:t>Noha Vicars</a:t>
            </a:r>
            <a:endParaRPr lang="en-US" sz="2800"/>
          </a:p>
          <a:p>
            <a:pPr>
              <a:defRPr/>
            </a:pPr>
            <a:r>
              <a:rPr lang="en-US" sz="1200" i="1">
                <a:solidFill>
                  <a:schemeClr val="tx1"/>
                </a:solidFill>
                <a:latin typeface="Poppins"/>
                <a:cs typeface="Poppins"/>
              </a:rPr>
              <a:t>Managing Director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D90E51-E6E7-3CA8-2CD8-2039F5C4DD3B}"/>
              </a:ext>
            </a:extLst>
          </p:cNvPr>
          <p:cNvSpPr/>
          <p:nvPr/>
        </p:nvSpPr>
        <p:spPr>
          <a:xfrm>
            <a:off x="5569634" y="1836856"/>
            <a:ext cx="2890434" cy="9579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Roboto"/>
              </a:defRPr>
            </a:lvl9pPr>
          </a:lstStyle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+mj-lt"/>
              </a:rPr>
              <a:t>Leon Pan</a:t>
            </a:r>
            <a:endParaRPr lang="en-US" sz="2800">
              <a:solidFill>
                <a:schemeClr val="tx1"/>
              </a:solidFill>
            </a:endParaRPr>
          </a:p>
          <a:p>
            <a:r>
              <a:rPr lang="en-US" sz="1200">
                <a:solidFill>
                  <a:schemeClr val="tx1"/>
                </a:solidFill>
                <a:latin typeface="+mj-lt"/>
                <a:cs typeface="Poppins"/>
              </a:rPr>
              <a:t>Digital Strategy Manager</a:t>
            </a:r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88B34-7848-BA0F-351A-ADABB064FB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t="948" b="948"/>
          <a:stretch>
            <a:fillRect/>
          </a:stretch>
        </p:blipFill>
        <p:spPr>
          <a:xfrm>
            <a:off x="596928" y="1672275"/>
            <a:ext cx="1163121" cy="1163121"/>
          </a:xfrm>
          <a:prstGeom prst="ellipse">
            <a:avLst/>
          </a:prstGeom>
          <a:ln w="3810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2EA88-AB40-45EC-B7EB-75F67AB0D9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948" b="948"/>
          <a:stretch>
            <a:fillRect/>
          </a:stretch>
        </p:blipFill>
        <p:spPr>
          <a:xfrm>
            <a:off x="4417491" y="1672275"/>
            <a:ext cx="1163121" cy="1163121"/>
          </a:xfrm>
          <a:prstGeom prst="ellipse">
            <a:avLst/>
          </a:prstGeom>
          <a:ln w="38100" cap="rnd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3FA4F2AF-9489-E1E4-8506-583DBD848648}"/>
              </a:ext>
            </a:extLst>
          </p:cNvPr>
          <p:cNvGrpSpPr/>
          <p:nvPr/>
        </p:nvGrpSpPr>
        <p:grpSpPr>
          <a:xfrm>
            <a:off x="596928" y="4027848"/>
            <a:ext cx="4173855" cy="1163121"/>
            <a:chOff x="6648466" y="1920753"/>
            <a:chExt cx="4173855" cy="116312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A43619B-3D25-C391-CF18-74526AF19C68}"/>
                </a:ext>
              </a:extLst>
            </p:cNvPr>
            <p:cNvSpPr/>
            <p:nvPr/>
          </p:nvSpPr>
          <p:spPr>
            <a:xfrm>
              <a:off x="7931887" y="2085334"/>
              <a:ext cx="2890434" cy="95796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9pPr>
            </a:lstStyle>
            <a:p>
              <a:pPr>
                <a:defRPr/>
              </a:pPr>
              <a:r>
                <a:rPr lang="en-US" b="1">
                  <a:solidFill>
                    <a:schemeClr val="tx1"/>
                  </a:solidFill>
                  <a:latin typeface="+mj-lt"/>
                </a:rPr>
                <a:t>Joey Wise</a:t>
              </a:r>
              <a:endParaRPr lang="en-US" sz="2800"/>
            </a:p>
            <a:p>
              <a:pPr>
                <a:defRPr/>
              </a:pPr>
              <a:r>
                <a:rPr lang="en-US" sz="1200" i="1">
                  <a:solidFill>
                    <a:schemeClr val="tx1"/>
                  </a:solidFill>
                  <a:latin typeface="+mj-lt"/>
                </a:rPr>
                <a:t>Digital Strategy Consultant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11E9D2-26C7-5BE4-9EE4-14555385C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</a:blip>
            <a:srcRect t="948" b="948"/>
            <a:stretch>
              <a:fillRect/>
            </a:stretch>
          </p:blipFill>
          <p:spPr>
            <a:xfrm>
              <a:off x="6648466" y="1920753"/>
              <a:ext cx="1163121" cy="1163121"/>
            </a:xfrm>
            <a:prstGeom prst="ellipse">
              <a:avLst/>
            </a:prstGeom>
            <a:ln w="38100" cap="rnd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F555876-8A18-9BF6-F409-91DDFAE627E9}"/>
              </a:ext>
            </a:extLst>
          </p:cNvPr>
          <p:cNvGrpSpPr/>
          <p:nvPr/>
        </p:nvGrpSpPr>
        <p:grpSpPr>
          <a:xfrm>
            <a:off x="4417491" y="4027848"/>
            <a:ext cx="4042577" cy="1163121"/>
            <a:chOff x="11752450" y="1920753"/>
            <a:chExt cx="4042577" cy="11631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DA630CB-E78F-0F8E-B69D-241CDFAB6031}"/>
                </a:ext>
              </a:extLst>
            </p:cNvPr>
            <p:cNvSpPr/>
            <p:nvPr/>
          </p:nvSpPr>
          <p:spPr>
            <a:xfrm>
              <a:off x="12904593" y="2085334"/>
              <a:ext cx="2890434" cy="95796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Roboto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</a:rPr>
                <a:t>Kate Christian</a:t>
              </a:r>
            </a:p>
            <a:p>
              <a:pPr lvl="0">
                <a:defRPr/>
              </a:pPr>
              <a:r>
                <a:rPr lang="en-US" sz="1200" i="1">
                  <a:solidFill>
                    <a:schemeClr val="tx1"/>
                  </a:solidFill>
                  <a:latin typeface="+mj-lt"/>
                </a:rPr>
                <a:t>Customer Strategy Senior Manager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72CE1E3-531F-C17F-FF53-62877E26DF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grayscl/>
            </a:blip>
            <a:srcRect t="948" b="948"/>
            <a:stretch>
              <a:fillRect/>
            </a:stretch>
          </p:blipFill>
          <p:spPr>
            <a:xfrm>
              <a:off x="11752450" y="1920753"/>
              <a:ext cx="1163121" cy="1163121"/>
            </a:xfrm>
            <a:prstGeom prst="ellipse">
              <a:avLst/>
            </a:prstGeom>
            <a:ln w="3810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5" name="Picture 24" descr="Profile photo for Gaurav">
            <a:extLst>
              <a:ext uri="{FF2B5EF4-FFF2-40B4-BE49-F238E27FC236}">
                <a16:creationId xmlns:a16="http://schemas.microsoft.com/office/drawing/2014/main" id="{08ACACA3-A29D-3127-A702-EA4C4E4D415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grayscl/>
          </a:blip>
          <a:srcRect/>
          <a:stretch>
            <a:fillRect/>
          </a:stretch>
        </p:blipFill>
        <p:spPr>
          <a:xfrm>
            <a:off x="8176642" y="1659835"/>
            <a:ext cx="1185603" cy="1185603"/>
          </a:xfrm>
          <a:prstGeom prst="ellipse">
            <a:avLst/>
          </a:prstGeom>
          <a:ln w="38100" cap="rnd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ABDBAE5-F93B-BE7F-EE92-4D6F5A309FC4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29" name="Circle: Hollow 28">
              <a:extLst>
                <a:ext uri="{FF2B5EF4-FFF2-40B4-BE49-F238E27FC236}">
                  <a16:creationId xmlns:a16="http://schemas.microsoft.com/office/drawing/2014/main" id="{FCC6FC23-3424-107F-711B-15042A5B2A86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48C2C36-AA42-AC3A-8613-9730D8683B71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33" name="Shape 3">
                <a:extLst>
                  <a:ext uri="{FF2B5EF4-FFF2-40B4-BE49-F238E27FC236}">
                    <a16:creationId xmlns:a16="http://schemas.microsoft.com/office/drawing/2014/main" id="{3B13AF89-71FF-FFF5-59BD-B6253743AFF9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5" name="Shape 4">
                <a:extLst>
                  <a:ext uri="{FF2B5EF4-FFF2-40B4-BE49-F238E27FC236}">
                    <a16:creationId xmlns:a16="http://schemas.microsoft.com/office/drawing/2014/main" id="{0023BBCB-5EC2-D0F0-EE54-06CE574BE408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7" name="Shape 5">
                <a:extLst>
                  <a:ext uri="{FF2B5EF4-FFF2-40B4-BE49-F238E27FC236}">
                    <a16:creationId xmlns:a16="http://schemas.microsoft.com/office/drawing/2014/main" id="{A3B5E3BB-5DB5-A666-55FC-EE3C12B08FDC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9" name="Shape 6">
                <a:extLst>
                  <a:ext uri="{FF2B5EF4-FFF2-40B4-BE49-F238E27FC236}">
                    <a16:creationId xmlns:a16="http://schemas.microsoft.com/office/drawing/2014/main" id="{5AE744E1-A51E-52FC-DE04-2734413FE524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1" name="Shape 7">
                <a:extLst>
                  <a:ext uri="{FF2B5EF4-FFF2-40B4-BE49-F238E27FC236}">
                    <a16:creationId xmlns:a16="http://schemas.microsoft.com/office/drawing/2014/main" id="{1B4327D0-CCDA-F5E3-D13A-C33259196E2E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3" name="Shape 10">
                <a:extLst>
                  <a:ext uri="{FF2B5EF4-FFF2-40B4-BE49-F238E27FC236}">
                    <a16:creationId xmlns:a16="http://schemas.microsoft.com/office/drawing/2014/main" id="{591A7563-2171-DCCC-196E-308E3ADE0D9B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018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5C18-6157-ECA5-0A53-2F406A9A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199EFB-4BE5-CAB8-25DF-358B14FB3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069B9-BB78-45EE-A327-B5E08C3C1DB1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3170C9-F842-56E8-FB36-A22CF1A50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3" y="384048"/>
            <a:ext cx="11484263" cy="507736"/>
          </a:xfrm>
        </p:spPr>
        <p:txBody>
          <a:bodyPr/>
          <a:lstStyle/>
          <a:p>
            <a:r>
              <a:rPr lang="en-IN"/>
              <a:t>Reference Architecture &amp; Agent Mapping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F7B406-FAA2-ED5C-A741-26656112F8F2}"/>
              </a:ext>
            </a:extLst>
          </p:cNvPr>
          <p:cNvGrpSpPr/>
          <p:nvPr/>
        </p:nvGrpSpPr>
        <p:grpSpPr>
          <a:xfrm>
            <a:off x="2313438" y="904461"/>
            <a:ext cx="9213574" cy="5844208"/>
            <a:chOff x="772873" y="133166"/>
            <a:chExt cx="10287000" cy="652508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38B3166-972B-9763-A8FC-8D3CBAB82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942" b="2912"/>
            <a:stretch>
              <a:fillRect/>
            </a:stretch>
          </p:blipFill>
          <p:spPr>
            <a:xfrm>
              <a:off x="772873" y="133166"/>
              <a:ext cx="10287000" cy="6525087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49DB918-6BB7-F84E-2DD8-3D86DA1A76BB}"/>
                </a:ext>
              </a:extLst>
            </p:cNvPr>
            <p:cNvSpPr/>
            <p:nvPr/>
          </p:nvSpPr>
          <p:spPr>
            <a:xfrm>
              <a:off x="2181188" y="663435"/>
              <a:ext cx="1398386" cy="252550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Planner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568F9B1-7060-297E-4019-9E87CC7EEA7F}"/>
                </a:ext>
              </a:extLst>
            </p:cNvPr>
            <p:cNvSpPr/>
            <p:nvPr/>
          </p:nvSpPr>
          <p:spPr>
            <a:xfrm>
              <a:off x="2181188" y="2217915"/>
              <a:ext cx="1398386" cy="252550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Deliverable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2832BAD-4593-54ED-31B3-868873CB82D9}"/>
                </a:ext>
              </a:extLst>
            </p:cNvPr>
            <p:cNvSpPr/>
            <p:nvPr/>
          </p:nvSpPr>
          <p:spPr>
            <a:xfrm rot="16200000">
              <a:off x="2530049" y="2030555"/>
              <a:ext cx="3183660" cy="241730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Facilitator, Insight, Decision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F20A943-3694-28AC-64D4-1A35940A515D}"/>
                </a:ext>
              </a:extLst>
            </p:cNvPr>
            <p:cNvSpPr/>
            <p:nvPr/>
          </p:nvSpPr>
          <p:spPr>
            <a:xfrm>
              <a:off x="2295487" y="5288572"/>
              <a:ext cx="6752013" cy="197828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IN" sz="800" b="1" kern="0">
                  <a:solidFill>
                    <a:prstClr val="white"/>
                  </a:solidFill>
                  <a:latin typeface="Aptos" panose="02110004020202020204"/>
                </a:rPr>
                <a:t>Facilitator, Insight, Decision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A7D071-A989-9C1C-FFFF-E7FC97AA0EA7}"/>
                </a:ext>
              </a:extLst>
            </p:cNvPr>
            <p:cNvSpPr/>
            <p:nvPr/>
          </p:nvSpPr>
          <p:spPr>
            <a:xfrm>
              <a:off x="8774319" y="3743250"/>
              <a:ext cx="1104008" cy="197828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Deliverable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0FF4CE2-638E-9D66-B731-C0C817CA1A26}"/>
                </a:ext>
              </a:extLst>
            </p:cNvPr>
            <p:cNvSpPr/>
            <p:nvPr/>
          </p:nvSpPr>
          <p:spPr>
            <a:xfrm>
              <a:off x="8774319" y="2521279"/>
              <a:ext cx="1104008" cy="197828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IN" sz="800" b="1" kern="0">
                  <a:solidFill>
                    <a:prstClr val="white"/>
                  </a:solidFill>
                  <a:latin typeface="Aptos" panose="02110004020202020204"/>
                </a:rPr>
                <a:t>Deliverable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2B64D8D-82CE-D1C6-1490-A8BD70F77127}"/>
                </a:ext>
              </a:extLst>
            </p:cNvPr>
            <p:cNvSpPr/>
            <p:nvPr/>
          </p:nvSpPr>
          <p:spPr>
            <a:xfrm>
              <a:off x="8774319" y="1174617"/>
              <a:ext cx="1104008" cy="197828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IN" sz="800" b="1" kern="0">
                  <a:solidFill>
                    <a:prstClr val="white"/>
                  </a:solidFill>
                  <a:latin typeface="Aptos" panose="02110004020202020204"/>
                </a:rPr>
                <a:t>Deliverable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B333980-AD82-6D86-9A5B-D1C646DC6753}"/>
              </a:ext>
            </a:extLst>
          </p:cNvPr>
          <p:cNvSpPr/>
          <p:nvPr/>
        </p:nvSpPr>
        <p:spPr>
          <a:xfrm>
            <a:off x="356790" y="2496772"/>
            <a:ext cx="1796787" cy="507736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are the agents working?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E6DCBC9-53A6-1233-C550-D721F0E0FADD}"/>
              </a:ext>
            </a:extLst>
          </p:cNvPr>
          <p:cNvSpPr/>
          <p:nvPr/>
        </p:nvSpPr>
        <p:spPr>
          <a:xfrm>
            <a:off x="356790" y="3004508"/>
            <a:ext cx="1796787" cy="166423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Planner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Facilitator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Insight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Decision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Deliverable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D05D31-D395-543C-27CD-A63D8FAC2B41}"/>
              </a:ext>
            </a:extLst>
          </p:cNvPr>
          <p:cNvGrpSpPr/>
          <p:nvPr/>
        </p:nvGrpSpPr>
        <p:grpSpPr>
          <a:xfrm>
            <a:off x="1417200" y="6398555"/>
            <a:ext cx="299760" cy="327976"/>
            <a:chOff x="1543571" y="593587"/>
            <a:chExt cx="3307562" cy="3618894"/>
          </a:xfrm>
        </p:grpSpPr>
        <p:sp>
          <p:nvSpPr>
            <p:cNvPr id="18" name="Circle: Hollow 17">
              <a:extLst>
                <a:ext uri="{FF2B5EF4-FFF2-40B4-BE49-F238E27FC236}">
                  <a16:creationId xmlns:a16="http://schemas.microsoft.com/office/drawing/2014/main" id="{6FE71935-7780-FBAB-123C-D1531DCB8341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B7517D3-C80B-9B4B-2EA5-48E40CB7A33B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23" name="Shape 3">
                <a:extLst>
                  <a:ext uri="{FF2B5EF4-FFF2-40B4-BE49-F238E27FC236}">
                    <a16:creationId xmlns:a16="http://schemas.microsoft.com/office/drawing/2014/main" id="{1A16BE92-28EA-2B08-EB0E-4808F83AEA22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7" name="Shape 4">
                <a:extLst>
                  <a:ext uri="{FF2B5EF4-FFF2-40B4-BE49-F238E27FC236}">
                    <a16:creationId xmlns:a16="http://schemas.microsoft.com/office/drawing/2014/main" id="{CF6D4281-980F-F1BB-F990-B1A35FA94788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29" name="Shape 5">
                <a:extLst>
                  <a:ext uri="{FF2B5EF4-FFF2-40B4-BE49-F238E27FC236}">
                    <a16:creationId xmlns:a16="http://schemas.microsoft.com/office/drawing/2014/main" id="{0D0D8871-4234-27D0-E606-F17450A760AD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1" name="Shape 6">
                <a:extLst>
                  <a:ext uri="{FF2B5EF4-FFF2-40B4-BE49-F238E27FC236}">
                    <a16:creationId xmlns:a16="http://schemas.microsoft.com/office/drawing/2014/main" id="{C92D8DF8-494E-8812-76EA-4EC4966105C1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33" name="Shape 7">
                <a:extLst>
                  <a:ext uri="{FF2B5EF4-FFF2-40B4-BE49-F238E27FC236}">
                    <a16:creationId xmlns:a16="http://schemas.microsoft.com/office/drawing/2014/main" id="{C1BE729F-159E-ABC6-24AC-0C534AC9CB6F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49" name="Shape 10">
                <a:extLst>
                  <a:ext uri="{FF2B5EF4-FFF2-40B4-BE49-F238E27FC236}">
                    <a16:creationId xmlns:a16="http://schemas.microsoft.com/office/drawing/2014/main" id="{E0010C43-49FF-BF1A-4616-7DB76DC19F5D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28CA7FA-D43D-3C17-D83E-B1A810FD8AA8}"/>
              </a:ext>
            </a:extLst>
          </p:cNvPr>
          <p:cNvGrpSpPr/>
          <p:nvPr/>
        </p:nvGrpSpPr>
        <p:grpSpPr>
          <a:xfrm>
            <a:off x="664988" y="1299069"/>
            <a:ext cx="922531" cy="1009366"/>
            <a:chOff x="1543571" y="593587"/>
            <a:chExt cx="3307562" cy="3618894"/>
          </a:xfrm>
        </p:grpSpPr>
        <p:sp>
          <p:nvSpPr>
            <p:cNvPr id="55" name="Circle: Hollow 54">
              <a:extLst>
                <a:ext uri="{FF2B5EF4-FFF2-40B4-BE49-F238E27FC236}">
                  <a16:creationId xmlns:a16="http://schemas.microsoft.com/office/drawing/2014/main" id="{3C426F41-3146-EE2D-2B85-3D0B8E7DD2D9}"/>
                </a:ext>
              </a:extLst>
            </p:cNvPr>
            <p:cNvSpPr/>
            <p:nvPr/>
          </p:nvSpPr>
          <p:spPr>
            <a:xfrm>
              <a:off x="2384188" y="1140977"/>
              <a:ext cx="1953928" cy="1953928"/>
            </a:xfrm>
            <a:prstGeom prst="donut">
              <a:avLst/>
            </a:prstGeom>
            <a:gradFill flip="none" rotWithShape="1">
              <a:gsLst>
                <a:gs pos="14000">
                  <a:schemeClr val="accent2">
                    <a:lumMod val="75000"/>
                  </a:schemeClr>
                </a:gs>
                <a:gs pos="71000">
                  <a:schemeClr val="bg2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31C6913-9958-8292-C2B4-F5B0536577C6}"/>
                </a:ext>
              </a:extLst>
            </p:cNvPr>
            <p:cNvGrpSpPr/>
            <p:nvPr/>
          </p:nvGrpSpPr>
          <p:grpSpPr>
            <a:xfrm>
              <a:off x="1543571" y="593587"/>
              <a:ext cx="3307562" cy="3618894"/>
              <a:chOff x="5026457" y="1158545"/>
              <a:chExt cx="2145182" cy="2347103"/>
            </a:xfrm>
          </p:grpSpPr>
          <p:sp>
            <p:nvSpPr>
              <p:cNvPr id="57" name="Shape 3">
                <a:extLst>
                  <a:ext uri="{FF2B5EF4-FFF2-40B4-BE49-F238E27FC236}">
                    <a16:creationId xmlns:a16="http://schemas.microsoft.com/office/drawing/2014/main" id="{62C75855-A1EB-0DFF-8082-CDA7163D9954}"/>
                  </a:ext>
                </a:extLst>
              </p:cNvPr>
              <p:cNvSpPr/>
              <p:nvPr/>
            </p:nvSpPr>
            <p:spPr>
              <a:xfrm rot="1140000">
                <a:off x="5026457" y="1158545"/>
                <a:ext cx="2145182" cy="214518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7851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8" name="Shape 4">
                <a:extLst>
                  <a:ext uri="{FF2B5EF4-FFF2-40B4-BE49-F238E27FC236}">
                    <a16:creationId xmlns:a16="http://schemas.microsoft.com/office/drawing/2014/main" id="{ABB87024-3C4B-5B2A-A9D7-61EE450DA92E}"/>
                  </a:ext>
                </a:extLst>
              </p:cNvPr>
              <p:cNvSpPr/>
              <p:nvPr/>
            </p:nvSpPr>
            <p:spPr>
              <a:xfrm rot="12300000">
                <a:off x="5250302" y="1382390"/>
                <a:ext cx="1697492" cy="1697492"/>
              </a:xfrm>
              <a:prstGeom prst="arc">
                <a:avLst/>
              </a:prstGeom>
              <a:solidFill>
                <a:srgbClr val="FFFFFF">
                  <a:alpha val="0"/>
                </a:srgbClr>
              </a:solidFill>
              <a:ln w="20726">
                <a:solidFill>
                  <a:schemeClr val="bg2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59" name="Shape 5">
                <a:extLst>
                  <a:ext uri="{FF2B5EF4-FFF2-40B4-BE49-F238E27FC236}">
                    <a16:creationId xmlns:a16="http://schemas.microsoft.com/office/drawing/2014/main" id="{40A040B1-E4CC-C983-A3B1-7EEA1A45E641}"/>
                  </a:ext>
                </a:extLst>
              </p:cNvPr>
              <p:cNvSpPr/>
              <p:nvPr/>
            </p:nvSpPr>
            <p:spPr>
              <a:xfrm>
                <a:off x="6728612" y="1452342"/>
                <a:ext cx="289133" cy="28913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rgbClr val="009AC1"/>
                </a:solidFill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60" name="Shape 6">
                <a:extLst>
                  <a:ext uri="{FF2B5EF4-FFF2-40B4-BE49-F238E27FC236}">
                    <a16:creationId xmlns:a16="http://schemas.microsoft.com/office/drawing/2014/main" id="{F44DE630-37BD-02FC-FB5C-E6E34A811549}"/>
                  </a:ext>
                </a:extLst>
              </p:cNvPr>
              <p:cNvSpPr/>
              <p:nvPr/>
            </p:nvSpPr>
            <p:spPr>
              <a:xfrm>
                <a:off x="5026457" y="2147194"/>
                <a:ext cx="205191" cy="205191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61" name="Shape 7">
                <a:extLst>
                  <a:ext uri="{FF2B5EF4-FFF2-40B4-BE49-F238E27FC236}">
                    <a16:creationId xmlns:a16="http://schemas.microsoft.com/office/drawing/2014/main" id="{221E0405-4D17-B652-25EA-48CD1050D4E5}"/>
                  </a:ext>
                </a:extLst>
              </p:cNvPr>
              <p:cNvSpPr/>
              <p:nvPr/>
            </p:nvSpPr>
            <p:spPr>
              <a:xfrm>
                <a:off x="5656021" y="3047238"/>
                <a:ext cx="270480" cy="270480"/>
              </a:xfrm>
              <a:prstGeom prst="ellipse">
                <a:avLst/>
              </a:prstGeom>
              <a:solidFill>
                <a:schemeClr val="bg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  <p:sp>
            <p:nvSpPr>
              <p:cNvPr id="62" name="Shape 10">
                <a:extLst>
                  <a:ext uri="{FF2B5EF4-FFF2-40B4-BE49-F238E27FC236}">
                    <a16:creationId xmlns:a16="http://schemas.microsoft.com/office/drawing/2014/main" id="{13BD1E7C-70D5-A016-89CC-BBEEC0D13CAB}"/>
                  </a:ext>
                </a:extLst>
              </p:cNvPr>
              <p:cNvSpPr/>
              <p:nvPr/>
            </p:nvSpPr>
            <p:spPr>
              <a:xfrm>
                <a:off x="6809299" y="3345628"/>
                <a:ext cx="160020" cy="160020"/>
              </a:xfrm>
              <a:prstGeom prst="ellipse">
                <a:avLst/>
              </a:prstGeom>
              <a:solidFill>
                <a:schemeClr val="tx2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8156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Aberdeen Colors">
      <a:dk1>
        <a:srgbClr val="404040"/>
      </a:dk1>
      <a:lt1>
        <a:srgbClr val="FFFFFF"/>
      </a:lt1>
      <a:dk2>
        <a:srgbClr val="44B0B1"/>
      </a:dk2>
      <a:lt2>
        <a:srgbClr val="09375F"/>
      </a:lt2>
      <a:accent1>
        <a:srgbClr val="09375F"/>
      </a:accent1>
      <a:accent2>
        <a:srgbClr val="03CBFF"/>
      </a:accent2>
      <a:accent3>
        <a:srgbClr val="00A676"/>
      </a:accent3>
      <a:accent4>
        <a:srgbClr val="F7CE01"/>
      </a:accent4>
      <a:accent5>
        <a:srgbClr val="BD8CFF"/>
      </a:accent5>
      <a:accent6>
        <a:srgbClr val="D85049"/>
      </a:accent6>
      <a:hlink>
        <a:srgbClr val="0072AD"/>
      </a:hlink>
      <a:folHlink>
        <a:srgbClr val="041B2F"/>
      </a:folHlink>
    </a:clrScheme>
    <a:fontScheme name="Aberdeen 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  <a:effectLst/>
      </a:spPr>
      <a:bodyPr rtlCol="0" anchor="ctr"/>
      <a:lstStyle>
        <a:defPPr algn="ctr">
          <a:defRPr sz="14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erdeen Slide Scratchpad 4.10" id="{46B2C024-FD6C-41EF-8A6C-2678C19FDAF5}" vid="{2915C20E-64BF-4E82-BFD3-FBB6D44EDD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2_Office Theme</vt:lpstr>
      <vt:lpstr>PowerPoint Presentation</vt:lpstr>
      <vt:lpstr>Agenda</vt:lpstr>
      <vt:lpstr>Context: Today, workshop facilitators manage multiple discussion threads and activities without live support</vt:lpstr>
      <vt:lpstr>Approach: Orbit facilitates alongside Aberdeen teams preparing for and delivering workshops</vt:lpstr>
      <vt:lpstr>Solution: Orbit reduces facilitator’s cognitive load and parallels workshop flow, including participant activities</vt:lpstr>
      <vt:lpstr>Next Steps: Orbit can expand features to support more use cases and become reusable across industries</vt:lpstr>
      <vt:lpstr>PowerPoint Presentation</vt:lpstr>
      <vt:lpstr>Appendix</vt:lpstr>
      <vt:lpstr>team4ever </vt:lpstr>
      <vt:lpstr>Reference Architecture &amp; Agent Mapping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Christian</dc:creator>
  <cp:revision>222</cp:revision>
  <dcterms:created xsi:type="dcterms:W3CDTF">2026-08-12T15:02:49Z</dcterms:created>
  <dcterms:modified xsi:type="dcterms:W3CDTF">2026-08-12T21:46:21Z</dcterms:modified>
</cp:coreProperties>
</file>